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4" r:id="rId29"/>
  </p:sldIdLst>
  <p:sldSz cx="12192000" cy="6858000"/>
  <p:notesSz cx="7559675" cy="10691813"/>
  <p:embeddedFontLst>
    <p:embeddedFont>
      <p:font typeface="Roboto Mono" panose="020F0502020204030204" pitchFamily="49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1" roundtripDataSignature="AMtx7mgOcRqQHfcsMuHeKvan2Py4GweQ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4305FB-FBC5-4713-A6C6-098117511834}">
  <a:tblStyle styleId="{AD4305FB-FBC5-4713-A6C6-09811751183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3843C3A-6B85-472B-9622-D238AD5EE3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340714B-0B25-49AB-BBD6-D46D10E5DD3E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150" autoAdjust="0"/>
  </p:normalViewPr>
  <p:slideViewPr>
    <p:cSldViewPr snapToGrid="0">
      <p:cViewPr varScale="1">
        <p:scale>
          <a:sx n="84" d="100"/>
          <a:sy n="84" d="100"/>
        </p:scale>
        <p:origin x="15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9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9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93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87f4801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3887f48011e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87f48011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887f48011e_0_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87f48011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87f48011e_0_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89a4615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89a46152a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cd93ceb5a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7cd93ceb5a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Most prior benchmarks focus on surface-level reasoning, overlooking how model performance changes with depth. This leaves a critical gap: the </a:t>
            </a:r>
            <a:r>
              <a:rPr lang="en-US" b="1">
                <a:solidFill>
                  <a:schemeClr val="dk1"/>
                </a:solidFill>
              </a:rPr>
              <a:t>collapse of accuracy and calibration when reasoning chains grow longer</a:t>
            </a:r>
            <a:r>
              <a:rPr lang="en-US">
                <a:solidFill>
                  <a:schemeClr val="dk1"/>
                </a:solidFill>
              </a:rPr>
              <a:t>, which our study directly investigates.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cd93ceb5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7cd93ceb5a_0_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We evaluated models on two controlled reasoning datasets: </a:t>
            </a:r>
            <a:r>
              <a:rPr lang="en-US" b="1">
                <a:solidFill>
                  <a:schemeClr val="dk1"/>
                </a:solidFill>
              </a:rPr>
              <a:t>CLUTRR</a:t>
            </a:r>
            <a:r>
              <a:rPr lang="en-US">
                <a:solidFill>
                  <a:schemeClr val="dk1"/>
                </a:solidFill>
              </a:rPr>
              <a:t> (depth 2–6 kinship reasoning) and </a:t>
            </a:r>
            <a:r>
              <a:rPr lang="en-US" b="1">
                <a:solidFill>
                  <a:schemeClr val="dk1"/>
                </a:solidFill>
              </a:rPr>
              <a:t>ProofWriter</a:t>
            </a:r>
            <a:r>
              <a:rPr lang="en-US">
                <a:solidFill>
                  <a:schemeClr val="dk1"/>
                </a:solidFill>
              </a:rPr>
              <a:t> (depth 1–5 logical entailment). Each depth contained 10 items, yielding 100 total samples, ensuring balanced coverage of increasing reasoning complexity.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Dataset Structure Summary Table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Dataset	Input Fields	Output	Depth Range	Example Label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CLUTRR	Story, Query (entity pair)	21 kinship classes	2–6	brother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ProofWriter	Premises, Hypothesis	True/False	1–5	False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📖 Paragraph Version (for paper/abstract)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We evaluate on two reasoning datasets. CLUTRR requires predicting kinship relations from stories, probing compositional relational reasoning at depths 2–6. ProofWriter requires deciding entailment of hypotheses from logical premises, probing multi-step logical reasoning with depths 1–5. Both datasets are explicitly structured to test how performance changes as reasoning depth increases.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87f48011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887f48011e_0_3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cd93ceb5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7cd93ceb5a_0_2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tested five models under multiple prompting protocols — Direct, Reasoning, DCAB, Think–Answer, and Answer–Verify — and evaluated them on accuracy, reasoning gains, collapse points, calibration, efficiency, and refutation rates.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cd93ceb5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cd93ceb5a_0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dataset item is transformed into a protocol-specific prompt, passed to the model, and the extracted prediction is compared with the gold label. We record accuracy, calibration, token usage, and collapse depth across all runs.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cd93ceb5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7cd93ceb5a_0_4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[ A. DATA SELECTION 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┌────────────────────────────────────────────────────────────────────────────┐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Datasets:      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CLUTRR (depths: 2..6), </a:t>
            </a:r>
            <a:r>
              <a:rPr lang="en-US" dirty="0" err="1"/>
              <a:t>ProofWriter</a:t>
            </a:r>
            <a:r>
              <a:rPr lang="en-US" dirty="0"/>
              <a:t> (depths: 1..5)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Sampling:      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N_PER_DEPTH = 10  → total items = 100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IDs saved → </a:t>
            </a:r>
            <a:r>
              <a:rPr lang="en-US" dirty="0" err="1"/>
              <a:t>subset_ids.json</a:t>
            </a:r>
            <a:r>
              <a:rPr lang="en-US" dirty="0"/>
              <a:t>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Saved previews: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items_count_by_depth.csv (counts per dataset, depth)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items_preview.csv (2 examples per (</a:t>
            </a:r>
            <a:r>
              <a:rPr lang="en-US" dirty="0" err="1"/>
              <a:t>dataset,depth</a:t>
            </a:r>
            <a:r>
              <a:rPr lang="en-US" dirty="0"/>
              <a:t>))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└────────────────────────────────────────────────────────────────────────────┘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[ B. PROMPTING LAYER (per item) 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┌────────────────────────────────────────────────────────────────────────────┐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Build problem body: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CLUTRR → Story + Question + Allowed labels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</a:t>
            </a:r>
            <a:r>
              <a:rPr lang="en-US" dirty="0" err="1"/>
              <a:t>ProofWriter</a:t>
            </a:r>
            <a:r>
              <a:rPr lang="en-US" dirty="0"/>
              <a:t> → Premises + Hypothesis + {True, False}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Protocol selector (exact text from code):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1) DIRECT    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- CLUTRR_DIRECT_TMPL / PW_DIRECT_TMPL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- Budget cap: DIRECT_MAX = 32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2) REASONING 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- If model supports provider effort → same text as DIRECT,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  use provider effort knob (e.g., "medium"), cap = REASON_MAX = 256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- Else → prepend "Let's think step by step.\n\n" (</a:t>
            </a:r>
            <a:r>
              <a:rPr lang="en-US" dirty="0" err="1"/>
              <a:t>CoT</a:t>
            </a:r>
            <a:r>
              <a:rPr lang="en-US" dirty="0"/>
              <a:t> prefix),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  cap = 256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3) DCAB (Depth Calibration &amp; Adaptive Budgeting)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(a) </a:t>
            </a:r>
            <a:r>
              <a:rPr lang="en-US" dirty="0" err="1"/>
              <a:t>dcab_depth</a:t>
            </a:r>
            <a:r>
              <a:rPr lang="en-US" dirty="0"/>
              <a:t>: estimate required hops D ∈ [1..6]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(b) </a:t>
            </a:r>
            <a:r>
              <a:rPr lang="en-US" dirty="0" err="1"/>
              <a:t>dcab_budget</a:t>
            </a:r>
            <a:r>
              <a:rPr lang="en-US" dirty="0"/>
              <a:t>: choose budget b̂ ∈ {64, 128, 256}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(c) </a:t>
            </a:r>
            <a:r>
              <a:rPr lang="en-US" dirty="0" err="1"/>
              <a:t>dcab</a:t>
            </a:r>
            <a:r>
              <a:rPr lang="en-US" dirty="0"/>
              <a:t> solve: run reasoning under b̂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4) TA (Think-then-Answer)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- reasoning with fixed budget B ∈ {64, 128, 256}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5) AV (Answer-then-Verify)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- Answer step: DIRECT@32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- Verify step: remaining budget (B-32) using AV_VERIFY_TMPL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└────────────────────────────────────────────────────────────────────────────┘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[ C. MODEL CALLER (per protocol) 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┌────────────────────────────────────────────────────────────────────────────┐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Model registry (5): llama31_8b, qwen25_7b, deepseek_r1d_qwen32b, glm45_air, gpt5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Provider-specific behavior: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OpenAI (gpt5): Responses API, </a:t>
            </a:r>
            <a:r>
              <a:rPr lang="en-US" dirty="0" err="1"/>
              <a:t>max_output_tokens</a:t>
            </a:r>
            <a:r>
              <a:rPr lang="en-US" dirty="0"/>
              <a:t> used,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optional reasoning={"effort": low/medium/high} via </a:t>
            </a:r>
            <a:r>
              <a:rPr lang="en-US" dirty="0" err="1"/>
              <a:t>map_budget_to_effort</a:t>
            </a:r>
            <a:r>
              <a:rPr lang="en-US" dirty="0"/>
              <a:t>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</a:t>
            </a:r>
            <a:r>
              <a:rPr lang="en-US" dirty="0" err="1"/>
              <a:t>DeepInfra</a:t>
            </a:r>
            <a:r>
              <a:rPr lang="en-US" dirty="0"/>
              <a:t> (others): Chat Completions; if effort fields rejected,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fallback without provider effort (</a:t>
            </a:r>
            <a:r>
              <a:rPr lang="en-US" dirty="0" err="1"/>
              <a:t>CoT</a:t>
            </a:r>
            <a:r>
              <a:rPr lang="en-US" dirty="0"/>
              <a:t> prefix path uses text).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Token/Cost tracking (per call): </a:t>
            </a:r>
            <a:r>
              <a:rPr lang="en-US" dirty="0" err="1"/>
              <a:t>prompt_tokens</a:t>
            </a:r>
            <a:r>
              <a:rPr lang="en-US" dirty="0"/>
              <a:t>, </a:t>
            </a:r>
            <a:r>
              <a:rPr lang="en-US" dirty="0" err="1"/>
              <a:t>completion_tokens</a:t>
            </a:r>
            <a:r>
              <a:rPr lang="en-US" dirty="0"/>
              <a:t>, </a:t>
            </a:r>
            <a:r>
              <a:rPr lang="en-US" dirty="0" err="1"/>
              <a:t>est_cost</a:t>
            </a:r>
            <a:r>
              <a:rPr lang="en-US" dirty="0"/>
              <a:t>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Soft spend guard: SOFT_SPEND_LIMIT_USD = 3.0 (halts new requests when hit)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└────────────────────────────────────────────────────────────────────────────┘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[ D. PARSING &amp; ROW RECORD 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┌────────────────────────────────────────────────────────────────────────────┐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Label extraction (</a:t>
            </a:r>
            <a:r>
              <a:rPr lang="en-US" dirty="0" err="1"/>
              <a:t>extract_label</a:t>
            </a:r>
            <a:r>
              <a:rPr lang="en-US" dirty="0"/>
              <a:t>):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</a:t>
            </a:r>
            <a:r>
              <a:rPr lang="en-US" dirty="0" err="1"/>
              <a:t>ProofWriter</a:t>
            </a:r>
            <a:r>
              <a:rPr lang="en-US" dirty="0"/>
              <a:t>: detect single True/False token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CLUTRR: whole-word match against provided kinship label set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If no confident match → pred = "UNK"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Uncertainty detector present (not used for scoring, only availability).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Row schema (per item):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</a:t>
            </a:r>
            <a:r>
              <a:rPr lang="en-US" dirty="0" err="1"/>
              <a:t>model_key</a:t>
            </a:r>
            <a:r>
              <a:rPr lang="en-US" dirty="0"/>
              <a:t>, provider, model, mode, dataset, depth, id, gold, pred, raw,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</a:t>
            </a:r>
            <a:r>
              <a:rPr lang="en-US" dirty="0" err="1"/>
              <a:t>prompt_tokens</a:t>
            </a:r>
            <a:r>
              <a:rPr lang="en-US" dirty="0"/>
              <a:t>, </a:t>
            </a:r>
            <a:r>
              <a:rPr lang="en-US" dirty="0" err="1"/>
              <a:t>completion_tokens</a:t>
            </a:r>
            <a:r>
              <a:rPr lang="en-US" dirty="0"/>
              <a:t>, </a:t>
            </a:r>
            <a:r>
              <a:rPr lang="en-US" dirty="0" err="1"/>
              <a:t>est_cost_usd</a:t>
            </a:r>
            <a:r>
              <a:rPr lang="en-US" dirty="0"/>
              <a:t>, </a:t>
            </a:r>
            <a:r>
              <a:rPr lang="en-US" dirty="0" err="1"/>
              <a:t>d_hat</a:t>
            </a:r>
            <a:r>
              <a:rPr lang="en-US" dirty="0"/>
              <a:t>, </a:t>
            </a:r>
            <a:r>
              <a:rPr lang="en-US" dirty="0" err="1"/>
              <a:t>b_hat</a:t>
            </a:r>
            <a:r>
              <a:rPr lang="en-US" dirty="0"/>
              <a:t>, budget,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</a:t>
            </a:r>
            <a:r>
              <a:rPr lang="en-US" dirty="0" err="1"/>
              <a:t>changed_by_verify</a:t>
            </a:r>
            <a:r>
              <a:rPr lang="en-US" dirty="0"/>
              <a:t> (for AV final row)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Persistence:   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Per-(</a:t>
            </a:r>
            <a:r>
              <a:rPr lang="en-US" dirty="0" err="1"/>
              <a:t>model,mode</a:t>
            </a:r>
            <a:r>
              <a:rPr lang="en-US" dirty="0"/>
              <a:t>) CSV/JSONL in runs/&lt;</a:t>
            </a:r>
            <a:r>
              <a:rPr lang="en-US" dirty="0" err="1"/>
              <a:t>ts</a:t>
            </a:r>
            <a:r>
              <a:rPr lang="en-US" dirty="0"/>
              <a:t>&gt;/preds/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Consolidated → all_predictions.csv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Spend aggregation → spend_preview.csv, spend_summary.csv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└────────────────────────────────────────────────────────────────────────────┘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[ E. PROTOCOL-SPECIFIC EXECUTION DETAILS 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┌────────────────────────────────────────────────────────────────────────────┐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DIRECT:        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Use DIRECT_MAX=32; effort=None (except minimal for gpt5 if coded).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REASONING:     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If </a:t>
            </a:r>
            <a:r>
              <a:rPr lang="en-US" dirty="0" err="1"/>
              <a:t>supports_reasoning_effort</a:t>
            </a:r>
            <a:r>
              <a:rPr lang="en-US" dirty="0"/>
              <a:t> → effort="medium", cap=256;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Else → </a:t>
            </a:r>
            <a:r>
              <a:rPr lang="en-US" dirty="0" err="1"/>
              <a:t>CoT</a:t>
            </a:r>
            <a:r>
              <a:rPr lang="en-US" dirty="0"/>
              <a:t> prefix + cap=256.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DCAB:          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Step (1) </a:t>
            </a:r>
            <a:r>
              <a:rPr lang="en-US" dirty="0" err="1"/>
              <a:t>dcab_depth</a:t>
            </a:r>
            <a:r>
              <a:rPr lang="en-US" dirty="0"/>
              <a:t>: cap=16, </a:t>
            </a:r>
            <a:r>
              <a:rPr lang="en-US" dirty="0" err="1"/>
              <a:t>parse_int_in_range</a:t>
            </a:r>
            <a:r>
              <a:rPr lang="en-US" dirty="0"/>
              <a:t>([1..6]); fallback D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 • fallback D: CLUTRR→2, ProofWriter→1 when parse fails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Step (2) </a:t>
            </a:r>
            <a:r>
              <a:rPr lang="en-US" dirty="0" err="1"/>
              <a:t>dcab_budget</a:t>
            </a:r>
            <a:r>
              <a:rPr lang="en-US" dirty="0"/>
              <a:t>: cap=12, choose b̂ ∈ {64,128,256}; fallback=128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Step (3) </a:t>
            </a:r>
            <a:r>
              <a:rPr lang="en-US" dirty="0" err="1"/>
              <a:t>dcab</a:t>
            </a:r>
            <a:r>
              <a:rPr lang="en-US" dirty="0"/>
              <a:t> solve: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 • </a:t>
            </a:r>
            <a:r>
              <a:rPr lang="en-US" dirty="0" err="1"/>
              <a:t>supports_effort</a:t>
            </a:r>
            <a:r>
              <a:rPr lang="en-US" dirty="0"/>
              <a:t>? map b̂→effort (low≤64, medium≤160, else high)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 • else </a:t>
            </a:r>
            <a:r>
              <a:rPr lang="en-US" dirty="0" err="1"/>
              <a:t>CoT</a:t>
            </a:r>
            <a:r>
              <a:rPr lang="en-US" dirty="0"/>
              <a:t> path; cap=b̂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TA (</a:t>
            </a:r>
            <a:r>
              <a:rPr lang="en-US" dirty="0" err="1"/>
              <a:t>Think→Answer</a:t>
            </a:r>
            <a:r>
              <a:rPr lang="en-US" dirty="0"/>
              <a:t>):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reasoning with explicit token cap B ∈ {64,128,256}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AV (</a:t>
            </a:r>
            <a:r>
              <a:rPr lang="en-US" dirty="0" err="1"/>
              <a:t>Answer→Verify</a:t>
            </a:r>
            <a:r>
              <a:rPr lang="en-US" dirty="0"/>
              <a:t>):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Answer: DIRECT@32 to get proposed label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Verify: AV_VERIFY_TMPL with budget (B-32); output final label;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- Final scored AV row notes </a:t>
            </a:r>
            <a:r>
              <a:rPr lang="en-US" dirty="0" err="1"/>
              <a:t>changed_by_verify</a:t>
            </a:r>
            <a:r>
              <a:rPr lang="en-US" dirty="0"/>
              <a:t> (flip from </a:t>
            </a:r>
            <a:r>
              <a:rPr lang="en-US" dirty="0" err="1"/>
              <a:t>wrong→right</a:t>
            </a:r>
            <a:r>
              <a:rPr lang="en-US" dirty="0"/>
              <a:t>).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└────────────────────────────────────────────────────────────────────────────┘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[ F. METRICS &amp; TABLES (post-run) 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┌────────────────────────────────────────────────────────────────────────────┐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Correctness: pred == gold (case-insensitive) → correct∈{0,1}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MVP accuracy table (DIRECT vs REASONING):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accuracy_by_depth.csv  (Table-2 pivot, % per </a:t>
            </a:r>
            <a:r>
              <a:rPr lang="en-US" dirty="0" err="1"/>
              <a:t>dataset×depth×mode×model</a:t>
            </a:r>
            <a:r>
              <a:rPr lang="en-US" dirty="0"/>
              <a:t>)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</a:t>
            </a:r>
            <a:r>
              <a:rPr lang="en-US" dirty="0" err="1"/>
              <a:t>ΔReasoning</a:t>
            </a:r>
            <a:r>
              <a:rPr lang="en-US" dirty="0"/>
              <a:t> (per depth):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delta_reasoning.csv  = Acc(reasoning) − Acc(direct)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Collapse point (per model, mode, dataset):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collapse_points.csv  = smallest depth with accuracy &lt; 0.5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DCAB calibration (depth estimation quality):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dcab_calibration.csv with Spearman ρ and ordinal ECE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Budget efficiency (MB5):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dcab_budget_efficiency.csv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- For each (</a:t>
            </a:r>
            <a:r>
              <a:rPr lang="en-US" dirty="0" err="1"/>
              <a:t>model,dataset,depth</a:t>
            </a:r>
            <a:r>
              <a:rPr lang="en-US" dirty="0"/>
              <a:t>): find minimal extra tokens over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  DIRECT to reach DIRECT+5pp using {REASONING, DCAB, TA_B, AV_B}.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DCAB collapse shift vs best fixed TA budget: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dcab_collapse_shift.csv (compare collapse depth of DCAB vs TA_B*)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AV vs TA accuracy (matched budgets):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av_vs_ta_accuracy.csv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AV refutation:       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av_refutation_rate.csv (flips from wrong initial → correct final /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  wrong initial) by budget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Spend summary (by model × mode):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spend_summary.csv               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└────────────────────────────────────────────────────────────────────────────┘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[ G. PLOTS (auto-generated) 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┌────────────────────────────────────────────────────────────────────────────┐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plots/acc_{model}_{dataset}.png     → Accuracy vs Depth (Direct vs Reason)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plots/delta_{model}_{dataset}.png   → </a:t>
            </a:r>
            <a:r>
              <a:rPr lang="en-US" dirty="0" err="1"/>
              <a:t>ΔReasoning</a:t>
            </a:r>
            <a:r>
              <a:rPr lang="en-US" dirty="0"/>
              <a:t> vs Depth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└────────────────────────────────────────────────────────────────────────────┘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                            ▼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[ H. REPORTING &amp; QUALITATIVE EXAMPLES ]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┌────────────────────────────────────────────────────────────────────────────┐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Use all_predictions.csv to retrieve: 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Representative successes/failures per depth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AV flips (</a:t>
            </a:r>
            <a:r>
              <a:rPr lang="en-US" dirty="0" err="1"/>
              <a:t>changed_by_verify</a:t>
            </a:r>
            <a:r>
              <a:rPr lang="en-US" dirty="0"/>
              <a:t>=True) 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│   • Cost/token footprints per protocol                                     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  └────────────────────────────────────────────────────────────────────────────┘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cd93ceb5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cd93ceb5a_0_1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[Dataset: CLUTRR Depth=2]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└─ Story + Query: (Nicholas, George)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[Prompt Builder]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┌────────────────────────────┐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Direct Mode             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 - Short answer template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└────────────────────────────┘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┌────────────────────────────┐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Reasoning Mode          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 - "Let's think step by…"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 - CoT or reasoning toggle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└────────────────────────────┘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[Model Execution: DeepSeek-32B]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┌────────────────────────────┐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Direct → Output: UNK    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Reasoning → Output: "son"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└────────────────────────────┘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[Prediction Parser]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┌────────────────────────────┐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Gold: brother           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Pred: UNK / son         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Correct? → No (✗)       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└────────────────────────────┘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          ↓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     [Evaluation Metrics]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┌────────────────────────────┐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Depth = 2               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Accuracy (Direct)= 0%   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Accuracy (Reasoning)=10%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│ Collapse depth = 2         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└────────────────────────────┘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cd93ceb5a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cd93ceb5a_0_15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7cd93ceb5a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7cd93ceb5a_0_17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7cd93ceb5a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7cd93ceb5a_0_19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cd93ceb5a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7cd93ceb5a_0_2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cd93ceb5a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7cd93ceb5a_0_23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7cd93ceb5a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7cd93ceb5a_0_24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7cd93ceb5a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7cd93ceb5a_0_2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7cd93ceb5a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7cd93ceb5a_0_2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7cd93ceb5a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7cd93ceb5a_0_27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7cd93ceb5a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7cd93ceb5a_0_28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7cd93ceb5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7cd93ceb5a_0_6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cd93ceb5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7cd93ceb5a_0_7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cd93ceb5a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cd93ceb5a_0_8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7cd93ceb5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7cd93ceb5a_0_3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6 — Results II: Calibration &amp; Efficiency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(a) Calibration (DCAB Depth Estimation)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(from dcab_calibration.csv)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	Dataset	Spearman ρ	ECE ↓	Notes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LLaMA-3.1-8B	CLUTRR	-0.31	0.33	Weak inverse correlation, high error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ProofWriter	0.00	0.39	No correlation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Qwen-2.5-7B	CLUTRR	0.24	0.27	Best positive correlation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ProofWriter	0.21	0.32	Moderate calibration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GPT-5, DeepSeek, GLM	All	NaN	–	Did not provide valid depth estimates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Takeaway: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Qwen-2.5-7B achieved the best calibration, modestly predicting reasoning depth (ρ≈0.24).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other models failed to estimate depth meaningfully.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(b) Efficiency — MB5 (Minimal Budget for +5pp over Direct)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(from dcab_budget_efficiency.csv)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	Dataset	Depth	Direct Acc	Best Method (MB5)	Extra Tokens	Achieved Acc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GPT-5	CLUTRR d=2	10%	Reasoning	+3 tokens	20%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GPT-5	ProofWriter d=3	80%	–	–	80%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LLaMA-3.1-8B	CLUTRR d=2	20%	Reasoning	+6.9 tokens	30%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Qwen-2.5-7B	CLUTRR d=4	0%	Reasoning	+7.7 tokens	20%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DeepSeek, GLM	–	–	–	–	–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Takeaway: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GPT-5 reached +10pp at shallow CLUTRR depth with minimal tokens.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LLaMA-3.1-8B showed the most efficient budget use (tiny token increase, measurable accuracy gain).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models either failed or required much larger budgets.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(c) AV vs TA Accuracy (Matched Budgets)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(from av_vs_ta_accuracy.csv)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Budget	Model	Dataset	TA Acc	AV Acc	Notes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	DeepSeek-32B	ProofWriter d=4	0.0	0.3	AV improved TA by +30pp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	Qwen-2.5-7B	ProofWriter d=4	0.4	0.4	Equal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128	GPT-5	CLUTRR d=2	0.1	0.0	TA slightly better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256	LLaMA-3.1-8B	ProofWriter d=4	0.5	0.5	Tie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Takeaway: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Answer–Verify (AV) sometimes outperforms Think–Answer (TA) at shallow ProofWriter depths (e.g., DeepSeek d=4).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GPT-5 and LLaMA, no consistent gain from AV.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(d) Refutation Rate (AV effectiveness)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(from av_refutation_rate.csv)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	Dataset	Depth	Wrong Initial	Flips → Correct	Refute 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DeepSeek-32B	ProofWriter d=4	10	3	30%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Qwen-2.5-7B	ProofWriter d=5	10	5	50%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Others	CLUTRR	–	–	0%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Takeaway: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Qwen-2.5-7B had the strongest AV correction ability, flipping 50% of wrong answers at ProofWriter depth-5.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DeepSeek also flipped 30% at mid-depth.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CLUTRR, AV did not help (0% flips).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📖 Paragraph Summary (for paper/abstract)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Calibration analysis showed that Qwen-2.5-7B was best at estimating reasoning depth, with modest positive correlation. Efficiency analysis revealed that GPT-5 and LLaMA-3.1-8B achieved measurable gains with minimal extra tokens, while others required large budgets or failed. Answer–Verify (AV) improved performance selectively, with Qwen-2.5-7B correcting up to 50% of wrong answers at higher depths, highlighting the potential of verification protocols for error correction.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6 — Results III: Qualitative &amp; Spend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(a) Qualitative Examples (from all_predictions.csv)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CLUTRR, Depth 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Gold: brother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Model: DeepSeek-32B (Reasoning) → son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Type: Misclassification within kinship labels.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ProofWriter, Depth 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Gold: False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Model: Qwen-2.5-7B (Direct) → True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Type: Logical contradiction not detected.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ProofWriter, Depth 5 (AV protocol)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Initial (Direct@32): Wrong (False)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Verify Step: Corrected to True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Outcome: Successful flip → demonstrates AV potential.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Takeaway: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Errors often come from role confusion in kinship (CLUTRR) and contradiction handling in ProofWriter.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 protocol occasionally corrects wrong initial guesses (esp. Qwen-2.5-7B at high depth).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(b) Spend Analysis (from spend_summary.csv)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	Mode	Prompt Tokens	Completion Tokens	Cost (USD)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GPT-5	Reasoning	16,747	23,734	0.2583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Direct	16,747	771	0.0286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TA-256	16,747	24,869	0.2696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GLM-4.5-Air	Direct	16,818	3,200	0.0069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DeepSeek-32B	Reasoning	17,321	25,016	0.0050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LLaMA-3.1-8B	Reasoning	18,019	161	0.0006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Qwen-2.5-7B	Reasoning	17,821	161	0.0007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Takeaway: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GPT-5 dominated spend (due to higher pricing), but still cost &lt;$0.30 total for reasoning runs.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Smaller open-source models (Qwen, LLaMA) were extremely cheap (&lt;$0.001 per protocol).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shows the framework is cost-efficient even at scale.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📖 Paragraph Summary (for paper/abstract)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Qualitative inspection revealed that models often misclassify kinship roles in CLUTRR and fail to detect contradictions in ProofWriter. Answer–Verify occasionally corrected such errors, especially for Qwen-2.5-7B at higher depths. Spend analysis showed the evaluation framework to be cost-efficient: even GPT-5’s most expensive runs remained below $0.30, while smaller models ran almost free, highlighting practicality of the methodology.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7cd93ceb5a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7cd93ceb5a_0_1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</a:rPr>
              <a:t>Good Results to Showcase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GPT-5 baseline</a:t>
            </a:r>
            <a:r>
              <a:rPr lang="en-US">
                <a:solidFill>
                  <a:schemeClr val="dk1"/>
                </a:solidFill>
              </a:rPr>
              <a:t>: strongest model, but reasoning collapses.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Qwen-2.5-7B</a:t>
            </a:r>
            <a:r>
              <a:rPr lang="en-US">
                <a:solidFill>
                  <a:schemeClr val="dk1"/>
                </a:solidFill>
              </a:rPr>
              <a:t>: best calibration and AV flips (50% correction rate).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LLaMA-3.1-8B</a:t>
            </a:r>
            <a:r>
              <a:rPr lang="en-US">
                <a:solidFill>
                  <a:schemeClr val="dk1"/>
                </a:solidFill>
              </a:rPr>
              <a:t>: most efficient shallow reasoning improvement.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>
                <a:solidFill>
                  <a:schemeClr val="dk1"/>
                </a:solidFill>
              </a:rPr>
              <a:t>DeepSeek &amp; GLM</a:t>
            </a:r>
            <a:r>
              <a:rPr lang="en-US">
                <a:solidFill>
                  <a:schemeClr val="dk1"/>
                </a:solidFill>
              </a:rPr>
              <a:t>: serve as </a:t>
            </a:r>
            <a:r>
              <a:rPr lang="en-US" i="1">
                <a:solidFill>
                  <a:schemeClr val="dk1"/>
                </a:solidFill>
              </a:rPr>
              <a:t>negative control baselines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👉 This mix gives you a </a:t>
            </a:r>
            <a:r>
              <a:rPr lang="en-US" b="1">
                <a:solidFill>
                  <a:schemeClr val="dk1"/>
                </a:solidFill>
              </a:rPr>
              <a:t>story</a:t>
            </a:r>
            <a:r>
              <a:rPr lang="en-US">
                <a:solidFill>
                  <a:schemeClr val="dk1"/>
                </a:solidFill>
              </a:rPr>
              <a:t>: “Different models fail in different ways, but collapse is universal.”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7cd93ceb5a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7cd93ceb5a_0_12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400dc9fe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3400dc9feb1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75a6c6ba1c_1_6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9" name="Google Shape;19;g375a6c6ba1c_1_6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20" name="Google Shape;20;g375a6c6ba1c_1_6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75a6c6ba1c_1_6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75a6c6ba1c_1_6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g375a6c6ba1c_1_6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87f48011e_0_0"/>
          <p:cNvSpPr txBox="1">
            <a:spLocks noGrp="1"/>
          </p:cNvSpPr>
          <p:nvPr>
            <p:ph type="title"/>
          </p:nvPr>
        </p:nvSpPr>
        <p:spPr>
          <a:xfrm>
            <a:off x="730980" y="2643125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AAAI Student Abstract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87f48011e_0_4"/>
          <p:cNvSpPr txBox="1">
            <a:spLocks noGrp="1"/>
          </p:cNvSpPr>
          <p:nvPr>
            <p:ph type="title"/>
          </p:nvPr>
        </p:nvSpPr>
        <p:spPr>
          <a:xfrm>
            <a:off x="116075" y="2856600"/>
            <a:ext cx="118200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3700" dirty="0"/>
              <a:t>When Reasoning Collapses: A Depth-Aware Probe into LLM Reasoning </a:t>
            </a:r>
            <a:endParaRPr sz="3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87f48011e_0_9"/>
          <p:cNvSpPr txBox="1">
            <a:spLocks noGrp="1"/>
          </p:cNvSpPr>
          <p:nvPr>
            <p:ph type="title"/>
          </p:nvPr>
        </p:nvSpPr>
        <p:spPr>
          <a:xfrm>
            <a:off x="609475" y="273600"/>
            <a:ext cx="10972500" cy="93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242" name="Google Shape;242;g3887f48011e_0_9"/>
          <p:cNvSpPr txBox="1">
            <a:spLocks noGrp="1"/>
          </p:cNvSpPr>
          <p:nvPr>
            <p:ph type="subTitle" idx="1"/>
          </p:nvPr>
        </p:nvSpPr>
        <p:spPr>
          <a:xfrm>
            <a:off x="609475" y="1206000"/>
            <a:ext cx="4561200" cy="56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Introduction &amp; Motivation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Reasoning collapse problem? Why test across depth?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Problem Statement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Benchmarks shallow reasoning → miss depth-based collapse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Datasets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Distribution per depth (</a:t>
            </a: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items_count_by_depth.csv</a:t>
            </a:r>
            <a:r>
              <a:rPr lang="en-US" sz="900"/>
              <a:t>)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Preview examples (</a:t>
            </a: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items_preview.csv</a:t>
            </a:r>
            <a:r>
              <a:rPr lang="en-US" sz="900"/>
              <a:t>)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Methodology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Models used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Direct vs Reasoning modes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Protocols: DCAB, TA, AV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Metrics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Workflow Diagram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From dataset → prompting → model → prediction → evaluation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Results I — Accuracy vs Depth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Plot curves for each model &amp; dataset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Show collapse beyond depth 2–3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Results II — Delta Reasoning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Improvements at shallow depth, collapse later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Results III — Calibration &amp; Collapse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DCAB calibration (ρ, ECE)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Collapse points per model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9.  Results IV — Budget &amp; Verification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MB5 efficiency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AV vs TA comparison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Refutation rates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Results V — Qualitative Cases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Failure examples from </a:t>
            </a: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all_predictions.csv	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Conclusion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Shallow reasoning helps briefly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Collapse appears universally across models</a:t>
            </a:r>
            <a:endParaRPr sz="900"/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-US" sz="900" b="1"/>
              <a:t>Future Work</a:t>
            </a:r>
            <a:endParaRPr sz="900" b="1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Extend datasets, scale models</a:t>
            </a:r>
            <a:endParaRPr sz="900"/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AutoNum type="alphaLcPeriod"/>
            </a:pPr>
            <a:r>
              <a:rPr lang="en-US" sz="900"/>
              <a:t>Explore consistency training &amp; curriculum learning</a:t>
            </a:r>
            <a:endParaRPr sz="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89a46152a_0_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Introduction &amp; Motivation</a:t>
            </a:r>
            <a:endParaRPr/>
          </a:p>
        </p:txBody>
      </p:sp>
      <p:sp>
        <p:nvSpPr>
          <p:cNvPr id="248" name="Google Shape;248;g3889a46152a_0_0"/>
          <p:cNvSpPr txBox="1">
            <a:spLocks noGrp="1"/>
          </p:cNvSpPr>
          <p:nvPr>
            <p:ph type="subTitle" idx="1"/>
          </p:nvPr>
        </p:nvSpPr>
        <p:spPr>
          <a:xfrm>
            <a:off x="609475" y="1293975"/>
            <a:ext cx="7293300" cy="436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61950" algn="l" rtl="0"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Large Language Models (LLMs) are expected to perform </a:t>
            </a:r>
            <a:r>
              <a:rPr lang="en-US" sz="2100" b="1"/>
              <a:t>multi-step reasoning</a:t>
            </a:r>
            <a:r>
              <a:rPr lang="en-US" sz="2100"/>
              <a:t> reliably.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Standard benchmarks mostly test </a:t>
            </a:r>
            <a:r>
              <a:rPr lang="en-US" sz="2100" b="1"/>
              <a:t>shallow depth reasoning</a:t>
            </a:r>
            <a:r>
              <a:rPr lang="en-US" sz="2100"/>
              <a:t>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Our study: probe </a:t>
            </a:r>
            <a:r>
              <a:rPr lang="en-US" sz="2100" b="1"/>
              <a:t>reasoning depth (2–6 for CLUTRR, 1–5 for ProofWriter)</a:t>
            </a:r>
            <a:r>
              <a:rPr lang="en-US" sz="2100"/>
              <a:t>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Observation: </a:t>
            </a:r>
            <a:r>
              <a:rPr lang="en-US" sz="2100" b="1"/>
              <a:t>accuracy collapses quickly as depth increases</a:t>
            </a:r>
            <a:r>
              <a:rPr lang="en-US" sz="2100"/>
              <a:t>.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100"/>
              <a:t>Aim: measure reasoning collapse, calibration, and efficiency across models &amp; prompting protocols.</a:t>
            </a:r>
            <a:endParaRPr sz="21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49" name="Google Shape;249;g3889a46152a_0_0"/>
          <p:cNvGraphicFramePr/>
          <p:nvPr/>
        </p:nvGraphicFramePr>
        <p:xfrm>
          <a:off x="6862575" y="4286400"/>
          <a:ext cx="5329425" cy="2584173"/>
        </p:xfrm>
        <a:graphic>
          <a:graphicData uri="http://schemas.openxmlformats.org/drawingml/2006/table">
            <a:tbl>
              <a:tblPr>
                <a:noFill/>
                <a:tableStyleId>{73843C3A-6B85-472B-9622-D238AD5EE330}</a:tableStyleId>
              </a:tblPr>
              <a:tblGrid>
                <a:gridCol w="10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Term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Explanation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Reasoning Depth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Number of steps/hops required to reach an answer (e.g., multi-hop logic).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Collapse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Accuracy drops sharply beyond a certain depth.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Calibration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Whether predicted depth/effort matches actual task depth.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Protocols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Different prompting strategies: Direct, Reasoning, DCAB, TA, AV.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cd93ceb5a_0_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 </a:t>
            </a:r>
            <a:endParaRPr/>
          </a:p>
        </p:txBody>
      </p:sp>
      <p:sp>
        <p:nvSpPr>
          <p:cNvPr id="255" name="Google Shape;255;g37cd93ceb5a_0_3"/>
          <p:cNvSpPr txBox="1">
            <a:spLocks noGrp="1"/>
          </p:cNvSpPr>
          <p:nvPr>
            <p:ph type="subTitle" idx="1"/>
          </p:nvPr>
        </p:nvSpPr>
        <p:spPr>
          <a:xfrm>
            <a:off x="609474" y="1604525"/>
            <a:ext cx="10572300" cy="397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Existing LLM benchmarks emphasize </a:t>
            </a:r>
            <a:r>
              <a:rPr lang="en-US" sz="1900" b="1"/>
              <a:t>shallow reasoning</a:t>
            </a:r>
            <a:r>
              <a:rPr lang="en-US" sz="1900"/>
              <a:t>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They rarely test </a:t>
            </a:r>
            <a:r>
              <a:rPr lang="en-US" sz="1900" b="1"/>
              <a:t>systematic scaling with depth</a:t>
            </a:r>
            <a:r>
              <a:rPr lang="en-US" sz="1900"/>
              <a:t>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As a result, they fail to expose </a:t>
            </a:r>
            <a:r>
              <a:rPr lang="en-US" sz="1900" b="1"/>
              <a:t>collapse points</a:t>
            </a:r>
            <a:r>
              <a:rPr lang="en-US" sz="1900"/>
              <a:t> where reasoning breaks down.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Our work: probe </a:t>
            </a:r>
            <a:r>
              <a:rPr lang="en-US" sz="1900" b="1"/>
              <a:t>depth-based reasoning performance</a:t>
            </a:r>
            <a:r>
              <a:rPr lang="en-US" sz="1900"/>
              <a:t> and </a:t>
            </a:r>
            <a:r>
              <a:rPr lang="en-US" sz="1900" b="1"/>
              <a:t>calibration</a:t>
            </a:r>
            <a:r>
              <a:rPr lang="en-US" sz="1900"/>
              <a:t> across multiple models and protocols.</a:t>
            </a:r>
            <a:endParaRPr sz="19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cd93ceb5a_0_1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/>
              <a:t>Datasets: </a:t>
            </a:r>
            <a:r>
              <a:rPr lang="en-US" sz="2300" b="1" i="1"/>
              <a:t>for Reasoning Depth Evaluation</a:t>
            </a:r>
            <a:endParaRPr sz="2300" b="1"/>
          </a:p>
        </p:txBody>
      </p:sp>
      <p:sp>
        <p:nvSpPr>
          <p:cNvPr id="261" name="Google Shape;261;g37cd93ceb5a_0_11"/>
          <p:cNvSpPr txBox="1">
            <a:spLocks noGrp="1"/>
          </p:cNvSpPr>
          <p:nvPr>
            <p:ph type="subTitle" idx="1"/>
          </p:nvPr>
        </p:nvSpPr>
        <p:spPr>
          <a:xfrm>
            <a:off x="609475" y="1334850"/>
            <a:ext cx="6870300" cy="528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/>
              <a:t>1. CLUTRR (Compositional Language Understanding with Text-based Relational Reasoning)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Task:</a:t>
            </a:r>
            <a:r>
              <a:rPr lang="en-US" sz="1100"/>
              <a:t> Predict </a:t>
            </a:r>
            <a:r>
              <a:rPr lang="en-US" sz="1100" b="1"/>
              <a:t>kinship(</a:t>
            </a:r>
            <a:r>
              <a:rPr lang="en-US" sz="1100" i="1"/>
              <a:t>Family relationships</a:t>
            </a:r>
            <a:r>
              <a:rPr lang="en-US" sz="1100"/>
              <a:t> between people.</a:t>
            </a:r>
            <a:r>
              <a:rPr lang="en-US" sz="1100" b="1"/>
              <a:t>) relations</a:t>
            </a:r>
            <a:r>
              <a:rPr lang="en-US" sz="1100"/>
              <a:t> between two people in a short story.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Reasoning Depth:</a:t>
            </a:r>
            <a:r>
              <a:rPr lang="en-US" sz="1100"/>
              <a:t> number of family links/hops needed (e.g., 2–6).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Structure:</a:t>
            </a:r>
            <a:endParaRPr sz="1100" b="1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 i="1"/>
              <a:t>Story:</a:t>
            </a:r>
            <a:r>
              <a:rPr lang="en-US" sz="1100"/>
              <a:t> “Ashley’s son Nicholas and son George went to play…”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 i="1"/>
              <a:t>Query:</a:t>
            </a:r>
            <a:r>
              <a:rPr lang="en-US" sz="1100"/>
              <a:t> (“Nicholas”, “George”)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 i="1"/>
              <a:t>Choices:</a:t>
            </a:r>
            <a:r>
              <a:rPr lang="en-US" sz="1100"/>
              <a:t> {aunt, brother, father, …, wife} (21 labels)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 i="1"/>
              <a:t>Gold:</a:t>
            </a:r>
            <a:r>
              <a:rPr lang="en-US" sz="1100"/>
              <a:t> brother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What it measures:</a:t>
            </a:r>
            <a:r>
              <a:rPr lang="en-US" sz="1100"/>
              <a:t> Can the model compose relational chains to infer family ties?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/>
              <a:t>2. ProofWriter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Task:</a:t>
            </a:r>
            <a:r>
              <a:rPr lang="en-US" sz="1100"/>
              <a:t> Decide if a </a:t>
            </a:r>
            <a:r>
              <a:rPr lang="en-US" sz="1100" b="1"/>
              <a:t>hypothesis is entailed</a:t>
            </a:r>
            <a:r>
              <a:rPr lang="en-US" sz="1100"/>
              <a:t> by a set of logical premises.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Reasoning Depth:</a:t>
            </a:r>
            <a:r>
              <a:rPr lang="en-US" sz="1100"/>
              <a:t> number of inference steps (QDep = 1–5).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Structure:</a:t>
            </a:r>
            <a:endParaRPr sz="1100" b="1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 i="1"/>
              <a:t>Premises:</a:t>
            </a:r>
            <a:r>
              <a:rPr lang="en-US" sz="1100"/>
              <a:t> “The cow eats the mouse. The cow does not need the tiger.”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 i="1"/>
              <a:t>Hypothesis:</a:t>
            </a:r>
            <a:r>
              <a:rPr lang="en-US" sz="1100"/>
              <a:t> “The cow needs the tiger.”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 i="1"/>
              <a:t>Choices:</a:t>
            </a:r>
            <a:r>
              <a:rPr lang="en-US" sz="1100"/>
              <a:t> {True, False}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sz="1100" i="1"/>
              <a:t>Gold:</a:t>
            </a:r>
            <a:r>
              <a:rPr lang="en-US" sz="1100"/>
              <a:t> False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What it measures:</a:t>
            </a:r>
            <a:r>
              <a:rPr lang="en-US" sz="1100"/>
              <a:t> Can the model handle </a:t>
            </a:r>
            <a:r>
              <a:rPr lang="en-US" sz="1100" b="1"/>
              <a:t>multi-hop logic</a:t>
            </a:r>
            <a:r>
              <a:rPr lang="en-US" sz="1100"/>
              <a:t> with negation?</a:t>
            </a:r>
            <a:endParaRPr/>
          </a:p>
        </p:txBody>
      </p:sp>
      <p:pic>
        <p:nvPicPr>
          <p:cNvPr id="262" name="Google Shape;262;g37cd93ceb5a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2025" y="2257575"/>
            <a:ext cx="4143375" cy="450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7cd93ceb5a_0_11"/>
          <p:cNvSpPr txBox="1"/>
          <p:nvPr/>
        </p:nvSpPr>
        <p:spPr>
          <a:xfrm>
            <a:off x="8174325" y="441575"/>
            <a:ext cx="3737400" cy="1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 b="1">
                <a:solidFill>
                  <a:schemeClr val="dk1"/>
                </a:solidFill>
              </a:rPr>
              <a:t>CLUTRR (depth 2–6):</a:t>
            </a:r>
            <a:r>
              <a:rPr lang="en-US" sz="1100">
                <a:solidFill>
                  <a:schemeClr val="dk1"/>
                </a:solidFill>
              </a:rPr>
              <a:t> kinship reasoning tasks.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 b="1">
                <a:solidFill>
                  <a:schemeClr val="dk1"/>
                </a:solidFill>
              </a:rPr>
              <a:t>ProofWriter (depth 1–5):</a:t>
            </a:r>
            <a:r>
              <a:rPr lang="en-US" sz="1100">
                <a:solidFill>
                  <a:schemeClr val="dk1"/>
                </a:solidFill>
              </a:rPr>
              <a:t> logical entailment tasks.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Balanced sample: </a:t>
            </a:r>
            <a:r>
              <a:rPr lang="en-US" sz="1100" b="1">
                <a:solidFill>
                  <a:schemeClr val="dk1"/>
                </a:solidFill>
              </a:rPr>
              <a:t>10 items per depth</a:t>
            </a:r>
            <a:r>
              <a:rPr lang="en-US" sz="1100">
                <a:solidFill>
                  <a:schemeClr val="dk1"/>
                </a:solidFill>
              </a:rPr>
              <a:t> → total </a:t>
            </a:r>
            <a:r>
              <a:rPr lang="en-US" sz="1100" b="1">
                <a:solidFill>
                  <a:schemeClr val="dk1"/>
                </a:solidFill>
              </a:rPr>
              <a:t>100 items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Dataset designed to probe </a:t>
            </a:r>
            <a:r>
              <a:rPr lang="en-US" sz="1100" b="1">
                <a:solidFill>
                  <a:schemeClr val="dk1"/>
                </a:solidFill>
              </a:rPr>
              <a:t>multi-hop reasoning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-US" sz="1100">
                <a:solidFill>
                  <a:schemeClr val="dk1"/>
                </a:solidFill>
              </a:rPr>
              <a:t>“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-US" sz="1100">
                <a:solidFill>
                  <a:schemeClr val="dk1"/>
                </a:solidFill>
              </a:rPr>
              <a:t> is the sample count — we kept it fixed at 10 per depth to ensure fairness and balanced evaluation.”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87f48011e_0_31"/>
          <p:cNvSpPr txBox="1"/>
          <p:nvPr/>
        </p:nvSpPr>
        <p:spPr>
          <a:xfrm>
            <a:off x="0" y="0"/>
            <a:ext cx="12192000" cy="6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1. Accuracy by Depth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Definition:</a:t>
            </a:r>
            <a:r>
              <a:rPr lang="en-US" sz="900">
                <a:solidFill>
                  <a:schemeClr val="dk1"/>
                </a:solidFill>
              </a:rPr>
              <a:t> Proportion of correct predictions at each reasoning depth.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What it calculates:</a:t>
            </a:r>
            <a:r>
              <a:rPr lang="en-US" sz="900">
                <a:solidFill>
                  <a:schemeClr val="dk1"/>
                </a:solidFill>
              </a:rPr>
              <a:t> How well a model answers as tasks get more complex (depth-2, depth-3, etc.).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Use in your work:</a:t>
            </a:r>
            <a:r>
              <a:rPr lang="en-US" sz="900">
                <a:solidFill>
                  <a:schemeClr val="dk1"/>
                </a:solidFill>
              </a:rPr>
              <a:t> Reveals where accuracy starts dropping (“collapse with depth”).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2. ΔReasoning vs Direct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Definition:</a:t>
            </a:r>
            <a:r>
              <a:rPr lang="en-US" sz="900">
                <a:solidFill>
                  <a:schemeClr val="dk1"/>
                </a:solidFill>
              </a:rPr>
              <a:t> Accuracy(reas.) − Accuracy(direct) at the same depth.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What it calculates:</a:t>
            </a:r>
            <a:r>
              <a:rPr lang="en-US" sz="900">
                <a:solidFill>
                  <a:schemeClr val="dk1"/>
                </a:solidFill>
              </a:rPr>
              <a:t> The </a:t>
            </a:r>
            <a:r>
              <a:rPr lang="en-US" sz="900" i="1">
                <a:solidFill>
                  <a:schemeClr val="dk1"/>
                </a:solidFill>
              </a:rPr>
              <a:t>added value</a:t>
            </a:r>
            <a:r>
              <a:rPr lang="en-US" sz="900">
                <a:solidFill>
                  <a:schemeClr val="dk1"/>
                </a:solidFill>
              </a:rPr>
              <a:t> of reasoning mode compared to direct short answers.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Use in your work:</a:t>
            </a:r>
            <a:r>
              <a:rPr lang="en-US" sz="900">
                <a:solidFill>
                  <a:schemeClr val="dk1"/>
                </a:solidFill>
              </a:rPr>
              <a:t> Shows whether reasoning actually improves performance or harms it.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3. Collapse Points (accuracy &lt; 50%)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Definition:</a:t>
            </a:r>
            <a:r>
              <a:rPr lang="en-US" sz="900">
                <a:solidFill>
                  <a:schemeClr val="dk1"/>
                </a:solidFill>
              </a:rPr>
              <a:t> The smallest depth at which model accuracy falls below 50%.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What it calculates:</a:t>
            </a:r>
            <a:r>
              <a:rPr lang="en-US" sz="900">
                <a:solidFill>
                  <a:schemeClr val="dk1"/>
                </a:solidFill>
              </a:rPr>
              <a:t> The </a:t>
            </a:r>
            <a:r>
              <a:rPr lang="en-US" sz="900" b="1">
                <a:solidFill>
                  <a:schemeClr val="dk1"/>
                </a:solidFill>
              </a:rPr>
              <a:t>breaking depth</a:t>
            </a:r>
            <a:r>
              <a:rPr lang="en-US" sz="900">
                <a:solidFill>
                  <a:schemeClr val="dk1"/>
                </a:solidFill>
              </a:rPr>
              <a:t> of reasoning, beyond which models can’t reliably solve.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Use in your work:</a:t>
            </a:r>
            <a:r>
              <a:rPr lang="en-US" sz="900">
                <a:solidFill>
                  <a:schemeClr val="dk1"/>
                </a:solidFill>
              </a:rPr>
              <a:t> Quantifies “reasoning collapse” as a discrete point.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4. Calibration (Spearman ρ, ECE)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Spearman ρ:</a:t>
            </a:r>
            <a:r>
              <a:rPr lang="en-US" sz="900">
                <a:solidFill>
                  <a:schemeClr val="dk1"/>
                </a:solidFill>
              </a:rPr>
              <a:t> Rank correlation between predicted depth (</a:t>
            </a:r>
            <a:r>
              <a:rPr lang="en-US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d̂</a:t>
            </a:r>
            <a:r>
              <a:rPr lang="en-US" sz="900">
                <a:solidFill>
                  <a:schemeClr val="dk1"/>
                </a:solidFill>
              </a:rPr>
              <a:t>) and true depth.</a:t>
            </a:r>
            <a:endParaRPr sz="900">
              <a:solidFill>
                <a:schemeClr val="dk1"/>
              </a:solidFill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US" sz="900">
                <a:solidFill>
                  <a:schemeClr val="dk1"/>
                </a:solidFill>
              </a:rPr>
              <a:t>Measures if models </a:t>
            </a:r>
            <a:r>
              <a:rPr lang="en-US" sz="900" i="1">
                <a:solidFill>
                  <a:schemeClr val="dk1"/>
                </a:solidFill>
              </a:rPr>
              <a:t>order tasks correctly</a:t>
            </a:r>
            <a:r>
              <a:rPr lang="en-US" sz="900">
                <a:solidFill>
                  <a:schemeClr val="dk1"/>
                </a:solidFill>
              </a:rPr>
              <a:t> by difficulty.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ECE (Expected Calibration Error, ordinal):</a:t>
            </a:r>
            <a:r>
              <a:rPr lang="en-US" sz="900">
                <a:solidFill>
                  <a:schemeClr val="dk1"/>
                </a:solidFill>
              </a:rPr>
              <a:t> Measures how close predicted depth matches true depth, normalized by range.</a:t>
            </a:r>
            <a:endParaRPr sz="900">
              <a:solidFill>
                <a:schemeClr val="dk1"/>
              </a:solidFill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US" sz="900">
                <a:solidFill>
                  <a:schemeClr val="dk1"/>
                </a:solidFill>
              </a:rPr>
              <a:t>Lower = better calibration.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What it calculates:</a:t>
            </a:r>
            <a:r>
              <a:rPr lang="en-US" sz="900">
                <a:solidFill>
                  <a:schemeClr val="dk1"/>
                </a:solidFill>
              </a:rPr>
              <a:t> How well models can </a:t>
            </a:r>
            <a:r>
              <a:rPr lang="en-US" sz="900" b="1">
                <a:solidFill>
                  <a:schemeClr val="dk1"/>
                </a:solidFill>
              </a:rPr>
              <a:t>self-estimate task difficulty</a:t>
            </a:r>
            <a:r>
              <a:rPr lang="en-US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Use in your work:</a:t>
            </a:r>
            <a:r>
              <a:rPr lang="en-US" sz="900">
                <a:solidFill>
                  <a:schemeClr val="dk1"/>
                </a:solidFill>
              </a:rPr>
              <a:t> Qwen-2.5-7B had the </a:t>
            </a:r>
            <a:r>
              <a:rPr lang="en-US" sz="900" b="1">
                <a:solidFill>
                  <a:schemeClr val="dk1"/>
                </a:solidFill>
              </a:rPr>
              <a:t>best calibration</a:t>
            </a:r>
            <a:r>
              <a:rPr lang="en-US" sz="900">
                <a:solidFill>
                  <a:schemeClr val="dk1"/>
                </a:solidFill>
              </a:rPr>
              <a:t> (positive ρ, moderate ECE).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5. Efficiency (MB5 token budget)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Definition:</a:t>
            </a:r>
            <a:r>
              <a:rPr lang="en-US" sz="900">
                <a:solidFill>
                  <a:schemeClr val="dk1"/>
                </a:solidFill>
              </a:rPr>
              <a:t> Minimal extra tokens needed to achieve +5 percentage points accuracy over the direct baseline.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What it calculates:</a:t>
            </a:r>
            <a:r>
              <a:rPr lang="en-US" sz="900">
                <a:solidFill>
                  <a:schemeClr val="dk1"/>
                </a:solidFill>
              </a:rPr>
              <a:t> How much additional compute is required to get a modest performance boost.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Use in your work:</a:t>
            </a:r>
            <a:r>
              <a:rPr lang="en-US" sz="900">
                <a:solidFill>
                  <a:schemeClr val="dk1"/>
                </a:solidFill>
              </a:rPr>
              <a:t> Shows whether reasoning is </a:t>
            </a:r>
            <a:r>
              <a:rPr lang="en-US" sz="900" b="1">
                <a:solidFill>
                  <a:schemeClr val="dk1"/>
                </a:solidFill>
              </a:rPr>
              <a:t>efficient</a:t>
            </a:r>
            <a:r>
              <a:rPr lang="en-US" sz="900">
                <a:solidFill>
                  <a:schemeClr val="dk1"/>
                </a:solidFill>
              </a:rPr>
              <a:t> or wasteful. GPT-5 &amp; LLaMA achieved gains with very few extra tokens.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6. Refutation Rates (AV vs TA)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Definition:</a:t>
            </a:r>
            <a:r>
              <a:rPr lang="en-US" sz="900">
                <a:solidFill>
                  <a:schemeClr val="dk1"/>
                </a:solidFill>
              </a:rPr>
              <a:t> Fraction of wrong initial answers (Direct@32) that are flipped to correct after verification in AV protocol.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Formula:</a:t>
            </a:r>
            <a:r>
              <a:rPr lang="en-US" sz="900">
                <a:solidFill>
                  <a:schemeClr val="dk1"/>
                </a:solidFill>
              </a:rPr>
              <a:t> Refute Rate = (# wrong initial corrected) / (# wrong initial total).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What it calculates:</a:t>
            </a:r>
            <a:r>
              <a:rPr lang="en-US" sz="900">
                <a:solidFill>
                  <a:schemeClr val="dk1"/>
                </a:solidFill>
              </a:rPr>
              <a:t> How effective the </a:t>
            </a:r>
            <a:r>
              <a:rPr lang="en-US" sz="900" b="1">
                <a:solidFill>
                  <a:schemeClr val="dk1"/>
                </a:solidFill>
              </a:rPr>
              <a:t>Answer–Verify (AV)</a:t>
            </a:r>
            <a:r>
              <a:rPr lang="en-US" sz="900">
                <a:solidFill>
                  <a:schemeClr val="dk1"/>
                </a:solidFill>
              </a:rPr>
              <a:t> method is at catching and fixing mistakes.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 b="1">
                <a:solidFill>
                  <a:schemeClr val="dk1"/>
                </a:solidFill>
              </a:rPr>
              <a:t>Use in your work:</a:t>
            </a:r>
            <a:r>
              <a:rPr lang="en-US" sz="900">
                <a:solidFill>
                  <a:schemeClr val="dk1"/>
                </a:solidFill>
              </a:rPr>
              <a:t> Qwen-2.5-7B flipped up to </a:t>
            </a:r>
            <a:r>
              <a:rPr lang="en-US" sz="900" b="1">
                <a:solidFill>
                  <a:schemeClr val="dk1"/>
                </a:solidFill>
              </a:rPr>
              <a:t>50% of wrong answers</a:t>
            </a:r>
            <a:r>
              <a:rPr lang="en-US" sz="900">
                <a:solidFill>
                  <a:schemeClr val="dk1"/>
                </a:solidFill>
              </a:rPr>
              <a:t> at depth-5.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cd93ceb5a_0_2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Methodology</a:t>
            </a:r>
            <a:endParaRPr/>
          </a:p>
        </p:txBody>
      </p:sp>
      <p:sp>
        <p:nvSpPr>
          <p:cNvPr id="274" name="Google Shape;274;g37cd93ceb5a_0_20"/>
          <p:cNvSpPr txBox="1">
            <a:spLocks noGrp="1"/>
          </p:cNvSpPr>
          <p:nvPr>
            <p:ph type="subTitle" idx="1"/>
          </p:nvPr>
        </p:nvSpPr>
        <p:spPr>
          <a:xfrm>
            <a:off x="609475" y="1604525"/>
            <a:ext cx="4904100" cy="513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Models tested (5):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llama31_8b</a:t>
            </a:r>
            <a:r>
              <a:rPr lang="en-US" sz="1100"/>
              <a:t> (DeepInfra)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qwen25_7b</a:t>
            </a:r>
            <a:r>
              <a:rPr lang="en-US" sz="1100"/>
              <a:t> (DeepInfra)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deepseek_r1d_qwen32b</a:t>
            </a:r>
            <a:r>
              <a:rPr lang="en-US" sz="1100"/>
              <a:t> (DeepInfra)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glm45_air</a:t>
            </a:r>
            <a:r>
              <a:rPr lang="en-US" sz="1100"/>
              <a:t> (DeepInfra)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gpt5</a:t>
            </a:r>
            <a:r>
              <a:rPr lang="en-US" sz="1100"/>
              <a:t> (OpenAI)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Protocols evaluated: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Direct:</a:t>
            </a:r>
            <a:r>
              <a:rPr lang="en-US" sz="1100"/>
              <a:t> short answer only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Reasoning:</a:t>
            </a:r>
            <a:r>
              <a:rPr lang="en-US" sz="1100"/>
              <a:t> CoT or provider-native reasoning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DCAB:</a:t>
            </a:r>
            <a:r>
              <a:rPr lang="en-US" sz="1100"/>
              <a:t> Depth Calibration &amp; Adaptive Budgeting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TA (Think–Answer):</a:t>
            </a:r>
            <a:r>
              <a:rPr lang="en-US" sz="1100"/>
              <a:t> reasoning before answer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 b="1"/>
              <a:t>AV (Answer–Verify):</a:t>
            </a:r>
            <a:r>
              <a:rPr lang="en-US" sz="1100"/>
              <a:t> initial short answer, then verification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/>
              <a:t>Metrics: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Accuracy by depth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ΔReasoning vs Direct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Collapse points (accuracy &lt; 50%)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Calibration (Spearman ρ, ECE)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Efficiency (MB5 token budget)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Refutation rates (AV vs TA)</a:t>
            </a:r>
            <a:endParaRPr sz="11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7cd93ceb5a_0_20"/>
          <p:cNvSpPr txBox="1"/>
          <p:nvPr/>
        </p:nvSpPr>
        <p:spPr>
          <a:xfrm>
            <a:off x="3636975" y="4893400"/>
            <a:ext cx="42366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Accuracy/ΔReasoning:</a:t>
            </a:r>
            <a:r>
              <a:rPr lang="en-US" sz="1100">
                <a:solidFill>
                  <a:schemeClr val="dk1"/>
                </a:solidFill>
              </a:rPr>
              <a:t> Does reasoning help?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Collapse point:</a:t>
            </a:r>
            <a:r>
              <a:rPr lang="en-US" sz="1100">
                <a:solidFill>
                  <a:schemeClr val="dk1"/>
                </a:solidFill>
              </a:rPr>
              <a:t> Where does it break?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Calibration:</a:t>
            </a:r>
            <a:r>
              <a:rPr lang="en-US" sz="1100">
                <a:solidFill>
                  <a:schemeClr val="dk1"/>
                </a:solidFill>
              </a:rPr>
              <a:t> Does the model know task difficulty?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Efficiency:</a:t>
            </a:r>
            <a:r>
              <a:rPr lang="en-US" sz="1100">
                <a:solidFill>
                  <a:schemeClr val="dk1"/>
                </a:solidFill>
              </a:rPr>
              <a:t> How costly is improvement?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>
                <a:solidFill>
                  <a:schemeClr val="dk1"/>
                </a:solidFill>
              </a:rPr>
              <a:t>Refutation:</a:t>
            </a:r>
            <a:r>
              <a:rPr lang="en-US" sz="1100">
                <a:solidFill>
                  <a:schemeClr val="dk1"/>
                </a:solidFill>
              </a:rPr>
              <a:t> Can verification recover wrong answers?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cd93ceb5a_0_28"/>
          <p:cNvSpPr txBox="1">
            <a:spLocks noGrp="1"/>
          </p:cNvSpPr>
          <p:nvPr>
            <p:ph type="title"/>
          </p:nvPr>
        </p:nvSpPr>
        <p:spPr>
          <a:xfrm>
            <a:off x="609755" y="3137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Workflow</a:t>
            </a:r>
            <a:endParaRPr/>
          </a:p>
        </p:txBody>
      </p:sp>
      <p:sp>
        <p:nvSpPr>
          <p:cNvPr id="281" name="Google Shape;281;g37cd93ceb5a_0_28"/>
          <p:cNvSpPr txBox="1">
            <a:spLocks noGrp="1"/>
          </p:cNvSpPr>
          <p:nvPr>
            <p:ph type="subTitle" idx="1"/>
          </p:nvPr>
        </p:nvSpPr>
        <p:spPr>
          <a:xfrm>
            <a:off x="609475" y="1604525"/>
            <a:ext cx="7409400" cy="3957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Input:</a:t>
            </a:r>
            <a:r>
              <a:rPr lang="en-US" sz="1800"/>
              <a:t> dataset item (story/hypothesis + query).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Prompting:</a:t>
            </a:r>
            <a:r>
              <a:rPr lang="en-US" sz="1800"/>
              <a:t> build Direct / Reasoning / DCAB / TA / AV prompt.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Model Execution:</a:t>
            </a:r>
            <a:r>
              <a:rPr lang="en-US" sz="1800"/>
              <a:t> run selected LLM with token budget / effort.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 b="1"/>
              <a:t>Prediction Parsing:</a:t>
            </a:r>
            <a:r>
              <a:rPr lang="en-US" sz="1800"/>
              <a:t> extract final label (CLUTRR: kinship, ProofWriter: True/False).</a:t>
            </a:r>
            <a:br>
              <a:rPr lang="en-US" sz="1800"/>
            </a:b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Evaluation:</a:t>
            </a:r>
            <a:endParaRPr sz="1800" b="1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Compare with gold label → accuracy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Track depth vs performance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Log tokens, cost, calibration, collapse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7cd93ceb5a_0_28"/>
          <p:cNvSpPr txBox="1"/>
          <p:nvPr/>
        </p:nvSpPr>
        <p:spPr>
          <a:xfrm>
            <a:off x="125750" y="5796175"/>
            <a:ext cx="12066300" cy="415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Dataset item → Prompt Builder → Model (Direct/Reasoning/DCAB/TA/AV)  → Prediction Parser → Metrics (Accuracy, Collapse, Calibration)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cd93ceb5a_0_44"/>
          <p:cNvSpPr/>
          <p:nvPr/>
        </p:nvSpPr>
        <p:spPr>
          <a:xfrm>
            <a:off x="160425" y="721950"/>
            <a:ext cx="2406300" cy="150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Dataset Item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(CLUTRR /   ProofWriter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7cd93ceb5a_0_44"/>
          <p:cNvSpPr/>
          <p:nvPr/>
        </p:nvSpPr>
        <p:spPr>
          <a:xfrm>
            <a:off x="160425" y="4030575"/>
            <a:ext cx="2406300" cy="150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Prompt Builder(Direct/Reasoning/ACAB/TA/AV)</a:t>
            </a:r>
            <a:endParaRPr/>
          </a:p>
        </p:txBody>
      </p:sp>
      <p:sp>
        <p:nvSpPr>
          <p:cNvPr id="289" name="Google Shape;289;g37cd93ceb5a_0_44"/>
          <p:cNvSpPr/>
          <p:nvPr/>
        </p:nvSpPr>
        <p:spPr>
          <a:xfrm>
            <a:off x="3112150" y="2225850"/>
            <a:ext cx="2406300" cy="150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run (5 LLMS)</a:t>
            </a:r>
            <a:endParaRPr/>
          </a:p>
        </p:txBody>
      </p:sp>
      <p:sp>
        <p:nvSpPr>
          <p:cNvPr id="290" name="Google Shape;290;g37cd93ceb5a_0_44"/>
          <p:cNvSpPr/>
          <p:nvPr/>
        </p:nvSpPr>
        <p:spPr>
          <a:xfrm>
            <a:off x="6232350" y="2225850"/>
            <a:ext cx="2406300" cy="1503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Prediction Parser (Label/true/False)</a:t>
            </a:r>
            <a:endParaRPr/>
          </a:p>
        </p:txBody>
      </p:sp>
      <p:sp>
        <p:nvSpPr>
          <p:cNvPr id="291" name="Google Shape;291;g37cd93ceb5a_0_44"/>
          <p:cNvSpPr/>
          <p:nvPr/>
        </p:nvSpPr>
        <p:spPr>
          <a:xfrm>
            <a:off x="9885950" y="2225850"/>
            <a:ext cx="2193600" cy="282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</a:t>
            </a:r>
            <a:br>
              <a:rPr lang="en-US"/>
            </a:br>
            <a:r>
              <a:rPr lang="en-US"/>
              <a:t>Metrices: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Accuracy 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ΔReasoning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Collapse 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Calibration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Efficiency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- Refutation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7cd93ceb5a_0_44"/>
          <p:cNvSpPr/>
          <p:nvPr/>
        </p:nvSpPr>
        <p:spPr>
          <a:xfrm>
            <a:off x="1022675" y="2346150"/>
            <a:ext cx="621600" cy="1503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37cd93ceb5a_0_44"/>
          <p:cNvSpPr/>
          <p:nvPr/>
        </p:nvSpPr>
        <p:spPr>
          <a:xfrm>
            <a:off x="5474375" y="1524000"/>
            <a:ext cx="842100" cy="3810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37cd93ceb5a_0_44"/>
          <p:cNvSpPr/>
          <p:nvPr/>
        </p:nvSpPr>
        <p:spPr>
          <a:xfrm>
            <a:off x="8783250" y="2967800"/>
            <a:ext cx="842100" cy="38100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7cd93ceb5a_0_44"/>
          <p:cNvSpPr/>
          <p:nvPr/>
        </p:nvSpPr>
        <p:spPr>
          <a:xfrm>
            <a:off x="2646950" y="3910250"/>
            <a:ext cx="2193600" cy="1263300"/>
          </a:xfrm>
          <a:prstGeom prst="leftUpArrow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cd93ceb5a_0_110"/>
          <p:cNvSpPr txBox="1"/>
          <p:nvPr/>
        </p:nvSpPr>
        <p:spPr>
          <a:xfrm>
            <a:off x="886475" y="539150"/>
            <a:ext cx="3645300" cy="461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Collapse on CLUTRR Depth-2</a:t>
            </a:r>
            <a:endParaRPr sz="1800"/>
          </a:p>
        </p:txBody>
      </p:sp>
      <p:sp>
        <p:nvSpPr>
          <p:cNvPr id="301" name="Google Shape;301;g37cd93ceb5a_0_110"/>
          <p:cNvSpPr txBox="1"/>
          <p:nvPr/>
        </p:nvSpPr>
        <p:spPr>
          <a:xfrm>
            <a:off x="215650" y="1293950"/>
            <a:ext cx="5258700" cy="5387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Dataset Item: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b="1">
                <a:solidFill>
                  <a:schemeClr val="dk1"/>
                </a:solidFill>
              </a:rPr>
              <a:t>Story:</a:t>
            </a:r>
            <a:r>
              <a:rPr lang="en-US" sz="1200">
                <a:solidFill>
                  <a:schemeClr val="dk1"/>
                </a:solidFill>
              </a:rPr>
              <a:t> “Ashley’s son Nicholas and son George went to play outside…”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b="1">
                <a:solidFill>
                  <a:schemeClr val="dk1"/>
                </a:solidFill>
              </a:rPr>
              <a:t>Query:</a:t>
            </a:r>
            <a:r>
              <a:rPr lang="en-US" sz="1200">
                <a:solidFill>
                  <a:schemeClr val="dk1"/>
                </a:solidFill>
              </a:rPr>
              <a:t> (“Nicholas”, “George”)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b="1">
                <a:solidFill>
                  <a:schemeClr val="dk1"/>
                </a:solidFill>
              </a:rPr>
              <a:t>Gold Answer: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 b="1">
                <a:solidFill>
                  <a:schemeClr val="dk1"/>
                </a:solidFill>
              </a:rPr>
              <a:t>brother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DeepSeek-32B Results: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b="1">
                <a:solidFill>
                  <a:schemeClr val="dk1"/>
                </a:solidFill>
              </a:rPr>
              <a:t>Direct Mode:</a:t>
            </a:r>
            <a:r>
              <a:rPr lang="en-US" sz="1200">
                <a:solidFill>
                  <a:schemeClr val="dk1"/>
                </a:solidFill>
              </a:rPr>
              <a:t> Output → </a:t>
            </a:r>
            <a:r>
              <a:rPr lang="en-US" sz="1200" i="1">
                <a:solidFill>
                  <a:schemeClr val="dk1"/>
                </a:solidFill>
              </a:rPr>
              <a:t>UNK</a:t>
            </a:r>
            <a:r>
              <a:rPr lang="en-US" sz="1200">
                <a:solidFill>
                  <a:schemeClr val="dk1"/>
                </a:solidFill>
              </a:rPr>
              <a:t> (no valid kinship label detected).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200" i="1">
                <a:solidFill>
                  <a:schemeClr val="dk1"/>
                </a:solidFill>
              </a:rPr>
              <a:t>What happened:</a:t>
            </a:r>
            <a:r>
              <a:rPr lang="en-US" sz="1200">
                <a:solidFill>
                  <a:schemeClr val="dk1"/>
                </a:solidFill>
              </a:rPr>
              <a:t> Model failed to map the text to a valid kinship label from the provided set.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 b="1">
                <a:solidFill>
                  <a:schemeClr val="dk1"/>
                </a:solidFill>
              </a:rPr>
              <a:t>Reasoning Mode:</a:t>
            </a:r>
            <a:r>
              <a:rPr lang="en-US" sz="1200">
                <a:solidFill>
                  <a:schemeClr val="dk1"/>
                </a:solidFill>
              </a:rPr>
              <a:t> Output → </a:t>
            </a:r>
            <a:r>
              <a:rPr lang="en-US" sz="1200" i="1">
                <a:solidFill>
                  <a:schemeClr val="dk1"/>
                </a:solidFill>
              </a:rPr>
              <a:t>“Nicholas is George’s son” → predicted </a:t>
            </a:r>
            <a:r>
              <a:rPr lang="en-US" sz="1200" b="1" i="1">
                <a:solidFill>
                  <a:schemeClr val="dk1"/>
                </a:solidFill>
              </a:rPr>
              <a:t>son</a:t>
            </a:r>
            <a:r>
              <a:rPr lang="en-US" sz="1200">
                <a:solidFill>
                  <a:schemeClr val="dk1"/>
                </a:solidFill>
              </a:rPr>
              <a:t>.</a:t>
            </a:r>
            <a:br>
              <a:rPr lang="en-US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200" i="1">
                <a:solidFill>
                  <a:schemeClr val="dk1"/>
                </a:solidFill>
              </a:rPr>
              <a:t>What happened:</a:t>
            </a:r>
            <a:r>
              <a:rPr lang="en-US" sz="1200">
                <a:solidFill>
                  <a:schemeClr val="dk1"/>
                </a:solidFill>
              </a:rPr>
              <a:t> The reasoning prefix (“let’s think step by step”) triggered a fabricated relation.</a:t>
            </a:r>
            <a:endParaRPr sz="1200">
              <a:solidFill>
                <a:schemeClr val="dk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200">
                <a:solidFill>
                  <a:schemeClr val="dk1"/>
                </a:solidFill>
              </a:rPr>
              <a:t>Instead of reasoning through the </a:t>
            </a:r>
            <a:r>
              <a:rPr lang="en-US" sz="1200" b="1">
                <a:solidFill>
                  <a:schemeClr val="dk1"/>
                </a:solidFill>
              </a:rPr>
              <a:t>symmetry of sibling relation</a:t>
            </a:r>
            <a:r>
              <a:rPr lang="en-US" sz="1200">
                <a:solidFill>
                  <a:schemeClr val="dk1"/>
                </a:solidFill>
              </a:rPr>
              <a:t>, it collapsed into a </a:t>
            </a:r>
            <a:r>
              <a:rPr lang="en-US" sz="1200" b="1">
                <a:solidFill>
                  <a:schemeClr val="dk1"/>
                </a:solidFill>
              </a:rPr>
              <a:t>parent-child structure</a:t>
            </a:r>
            <a:r>
              <a:rPr lang="en-U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Collapse Explanation: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At shallow depth (2 hops), the model </a:t>
            </a:r>
            <a:r>
              <a:rPr lang="en-US" sz="1200" b="1">
                <a:solidFill>
                  <a:schemeClr val="dk1"/>
                </a:solidFill>
              </a:rPr>
              <a:t>should infer sibling relation</a:t>
            </a:r>
            <a:r>
              <a:rPr lang="en-US" sz="1200">
                <a:solidFill>
                  <a:schemeClr val="dk1"/>
                </a:solidFill>
              </a:rPr>
              <a:t> from “both are sons of Ashley.”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Instead, reasoning caused the model to </a:t>
            </a:r>
            <a:r>
              <a:rPr lang="en-US" sz="1200" b="1">
                <a:solidFill>
                  <a:schemeClr val="dk1"/>
                </a:solidFill>
              </a:rPr>
              <a:t>confuse directionality</a:t>
            </a:r>
            <a:r>
              <a:rPr lang="en-US" sz="1200">
                <a:solidFill>
                  <a:schemeClr val="dk1"/>
                </a:solidFill>
              </a:rPr>
              <a:t>, showing that </a:t>
            </a:r>
            <a:r>
              <a:rPr lang="en-US" sz="1200" i="1">
                <a:solidFill>
                  <a:schemeClr val="dk1"/>
                </a:solidFill>
              </a:rPr>
              <a:t>longer reasoning traces increased error</a:t>
            </a:r>
            <a:r>
              <a:rPr lang="en-US" sz="1200">
                <a:solidFill>
                  <a:schemeClr val="dk1"/>
                </a:solidFill>
              </a:rPr>
              <a:t>.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302" name="Google Shape;302;g37cd93ceb5a_0_110"/>
          <p:cNvSpPr txBox="1"/>
          <p:nvPr/>
        </p:nvSpPr>
        <p:spPr>
          <a:xfrm>
            <a:off x="6918150" y="569900"/>
            <a:ext cx="3645300" cy="40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ProofWriter Depth-4 (Logical Entailment)</a:t>
            </a:r>
            <a:endParaRPr/>
          </a:p>
        </p:txBody>
      </p:sp>
      <p:sp>
        <p:nvSpPr>
          <p:cNvPr id="303" name="Google Shape;303;g37cd93ceb5a_0_110"/>
          <p:cNvSpPr txBox="1"/>
          <p:nvPr/>
        </p:nvSpPr>
        <p:spPr>
          <a:xfrm>
            <a:off x="5634900" y="1293950"/>
            <a:ext cx="6557100" cy="5265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Dataset Item: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solidFill>
                  <a:schemeClr val="dk1"/>
                </a:solidFill>
              </a:rPr>
              <a:t>Premises:</a:t>
            </a:r>
            <a:r>
              <a:rPr lang="en-US" sz="1300">
                <a:solidFill>
                  <a:schemeClr val="dk1"/>
                </a:solidFill>
              </a:rPr>
              <a:t> “The cow eats the mouse. The cow is cold. The cow does not need the tiger.”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solidFill>
                  <a:schemeClr val="dk1"/>
                </a:solidFill>
              </a:rPr>
              <a:t>Hypothesis:</a:t>
            </a:r>
            <a:r>
              <a:rPr lang="en-US" sz="1300">
                <a:solidFill>
                  <a:schemeClr val="dk1"/>
                </a:solidFill>
              </a:rPr>
              <a:t> “The cow needs the tiger.”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solidFill>
                  <a:schemeClr val="dk1"/>
                </a:solidFill>
              </a:rPr>
              <a:t>Gold Answer: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lang="en-US" sz="1300" b="1">
                <a:solidFill>
                  <a:schemeClr val="dk1"/>
                </a:solidFill>
              </a:rPr>
              <a:t>False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Qwen-2.5-7B Results: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solidFill>
                  <a:schemeClr val="dk1"/>
                </a:solidFill>
              </a:rPr>
              <a:t>Direct Mode:</a:t>
            </a:r>
            <a:r>
              <a:rPr lang="en-US" sz="1300">
                <a:solidFill>
                  <a:schemeClr val="dk1"/>
                </a:solidFill>
              </a:rPr>
              <a:t> Output → </a:t>
            </a:r>
            <a:r>
              <a:rPr lang="en-US" sz="1300" b="1">
                <a:solidFill>
                  <a:schemeClr val="dk1"/>
                </a:solidFill>
              </a:rPr>
              <a:t>True</a:t>
            </a:r>
            <a:r>
              <a:rPr lang="en-US" sz="1300">
                <a:solidFill>
                  <a:schemeClr val="dk1"/>
                </a:solidFill>
              </a:rPr>
              <a:t> (incorrect).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 i="1">
                <a:solidFill>
                  <a:schemeClr val="dk1"/>
                </a:solidFill>
              </a:rPr>
              <a:t>What happened:</a:t>
            </a:r>
            <a:r>
              <a:rPr lang="en-US" sz="1300">
                <a:solidFill>
                  <a:schemeClr val="dk1"/>
                </a:solidFill>
              </a:rPr>
              <a:t> The model ignored the negation “does not need the tiger.”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b="1">
                <a:solidFill>
                  <a:schemeClr val="dk1"/>
                </a:solidFill>
              </a:rPr>
              <a:t>Reasoning Mode:</a:t>
            </a:r>
            <a:r>
              <a:rPr lang="en-US" sz="1300">
                <a:solidFill>
                  <a:schemeClr val="dk1"/>
                </a:solidFill>
              </a:rPr>
              <a:t> Output → </a:t>
            </a:r>
            <a:r>
              <a:rPr lang="en-US" sz="1300" b="1">
                <a:solidFill>
                  <a:schemeClr val="dk1"/>
                </a:solidFill>
              </a:rPr>
              <a:t>True</a:t>
            </a:r>
            <a:r>
              <a:rPr lang="en-US" sz="1300">
                <a:solidFill>
                  <a:schemeClr val="dk1"/>
                </a:solidFill>
              </a:rPr>
              <a:t> again, with added rationale.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-US" sz="1300" i="1">
                <a:solidFill>
                  <a:schemeClr val="dk1"/>
                </a:solidFill>
              </a:rPr>
              <a:t>What happened:</a:t>
            </a:r>
            <a:r>
              <a:rPr lang="en-US" sz="1300">
                <a:solidFill>
                  <a:schemeClr val="dk1"/>
                </a:solidFill>
              </a:rPr>
              <a:t> CoT produced a step-by-step trace but </a:t>
            </a:r>
            <a:r>
              <a:rPr lang="en-US" sz="1300" b="1">
                <a:solidFill>
                  <a:schemeClr val="dk1"/>
                </a:solidFill>
              </a:rPr>
              <a:t>still reinforced the wrong conclusion</a:t>
            </a:r>
            <a:r>
              <a:rPr lang="en-US" sz="1300">
                <a:solidFill>
                  <a:schemeClr val="dk1"/>
                </a:solidFill>
              </a:rPr>
              <a:t>, effectively </a:t>
            </a:r>
            <a:r>
              <a:rPr lang="en-US" sz="1300" b="1">
                <a:solidFill>
                  <a:schemeClr val="dk1"/>
                </a:solidFill>
              </a:rPr>
              <a:t>rationalizing the error</a:t>
            </a:r>
            <a:r>
              <a:rPr lang="en-U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Collapse Explanation: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At depth-4, entailment tasks require tracking </a:t>
            </a:r>
            <a:r>
              <a:rPr lang="en-US" sz="1300" b="1">
                <a:solidFill>
                  <a:schemeClr val="dk1"/>
                </a:solidFill>
              </a:rPr>
              <a:t>multiple premises with negation</a:t>
            </a:r>
            <a:r>
              <a:rPr lang="en-U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The model </a:t>
            </a:r>
            <a:r>
              <a:rPr lang="en-US" sz="1300" b="1">
                <a:solidFill>
                  <a:schemeClr val="dk1"/>
                </a:solidFill>
              </a:rPr>
              <a:t>collapsed under compositional load</a:t>
            </a:r>
            <a:r>
              <a:rPr lang="en-US" sz="1300">
                <a:solidFill>
                  <a:schemeClr val="dk1"/>
                </a:solidFill>
              </a:rPr>
              <a:t>: even reasoning failed to apply logical consistency.</a:t>
            </a:r>
            <a:endParaRPr sz="13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300">
                <a:solidFill>
                  <a:schemeClr val="dk1"/>
                </a:solidFill>
              </a:rPr>
              <a:t>AV protocol sometimes corrected these (e.g., flipped ~30–50% of wrong answers at high depth), but not consistently.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cd93ceb5a_0_150"/>
          <p:cNvSpPr/>
          <p:nvPr/>
        </p:nvSpPr>
        <p:spPr>
          <a:xfrm>
            <a:off x="1884950" y="340875"/>
            <a:ext cx="2145600" cy="1263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Example 1 — CLUTRR d=2 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(Kinship Reasoning)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7cd93ceb5a_0_150"/>
          <p:cNvSpPr txBox="1"/>
          <p:nvPr/>
        </p:nvSpPr>
        <p:spPr>
          <a:xfrm>
            <a:off x="4291250" y="556875"/>
            <a:ext cx="6677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[Input Story]   Ashley’s son Nicholas and son George went to play...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[Query]         ("Nicholas", "George")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[Gold Answer]   brother</a:t>
            </a:r>
            <a:endParaRPr/>
          </a:p>
        </p:txBody>
      </p:sp>
      <p:sp>
        <p:nvSpPr>
          <p:cNvPr id="310" name="Google Shape;310;g37cd93ceb5a_0_150"/>
          <p:cNvSpPr/>
          <p:nvPr/>
        </p:nvSpPr>
        <p:spPr>
          <a:xfrm>
            <a:off x="481275" y="2298025"/>
            <a:ext cx="2145600" cy="1263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 Mode </a:t>
            </a:r>
            <a:br>
              <a:rPr lang="en-US"/>
            </a:br>
            <a:br>
              <a:rPr lang="en-US"/>
            </a:br>
            <a:r>
              <a:rPr lang="en-US"/>
              <a:t>output: UNK</a:t>
            </a:r>
            <a:br>
              <a:rPr lang="en-US"/>
            </a:br>
            <a:r>
              <a:rPr lang="en-US"/>
              <a:t> → Fail (✗)</a:t>
            </a:r>
            <a:endParaRPr/>
          </a:p>
        </p:txBody>
      </p:sp>
      <p:sp>
        <p:nvSpPr>
          <p:cNvPr id="311" name="Google Shape;311;g37cd93ceb5a_0_150"/>
          <p:cNvSpPr/>
          <p:nvPr/>
        </p:nvSpPr>
        <p:spPr>
          <a:xfrm>
            <a:off x="3601450" y="2298025"/>
            <a:ext cx="2145600" cy="1263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Reasoning Mode</a:t>
            </a:r>
            <a:br>
              <a:rPr lang="en-US"/>
            </a:br>
            <a:r>
              <a:rPr lang="en-US"/>
              <a:t>Output: "Nicholas is George’s son"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→ Pred = son (✗)</a:t>
            </a:r>
            <a:endParaRPr/>
          </a:p>
        </p:txBody>
      </p:sp>
      <p:sp>
        <p:nvSpPr>
          <p:cNvPr id="312" name="Google Shape;312;g37cd93ceb5a_0_150"/>
          <p:cNvSpPr txBox="1"/>
          <p:nvPr/>
        </p:nvSpPr>
        <p:spPr>
          <a:xfrm>
            <a:off x="1884950" y="4411575"/>
            <a:ext cx="4672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happened?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Direct: could not map to any kinship label.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Reasoning: fabricated a parent–child link,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collapsing instead of inferring siblings.</a:t>
            </a:r>
            <a:endParaRPr/>
          </a:p>
        </p:txBody>
      </p:sp>
      <p:sp>
        <p:nvSpPr>
          <p:cNvPr id="313" name="Google Shape;313;g37cd93ceb5a_0_150"/>
          <p:cNvSpPr txBox="1"/>
          <p:nvPr/>
        </p:nvSpPr>
        <p:spPr>
          <a:xfrm>
            <a:off x="6837950" y="4196175"/>
            <a:ext cx="4812600" cy="831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“Reasoning improves shallow accuracy briefly, but at higher depths it collapses — models rationalize wrong answers instead of correcting them.”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cd93ceb5a_0_175"/>
          <p:cNvSpPr/>
          <p:nvPr/>
        </p:nvSpPr>
        <p:spPr>
          <a:xfrm>
            <a:off x="1884950" y="340875"/>
            <a:ext cx="2145600" cy="1263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Example 2 — ProofWriter d=4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(Logical Entailment)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7cd93ceb5a_0_175"/>
          <p:cNvSpPr txBox="1"/>
          <p:nvPr/>
        </p:nvSpPr>
        <p:spPr>
          <a:xfrm>
            <a:off x="4291250" y="556875"/>
            <a:ext cx="66777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[Premises]      The cow eats the mouse. 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The cow is cold.  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The cow does not need the tiger.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[Hypothesis]    The cow needs the tiger.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[Gold Answer]   False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37cd93ceb5a_0_175"/>
          <p:cNvSpPr/>
          <p:nvPr/>
        </p:nvSpPr>
        <p:spPr>
          <a:xfrm>
            <a:off x="481275" y="2298025"/>
            <a:ext cx="2145600" cy="1263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 Mode </a:t>
            </a:r>
            <a:br>
              <a:rPr lang="en-US"/>
            </a:br>
            <a:br>
              <a:rPr lang="en-US"/>
            </a:br>
            <a:r>
              <a:rPr lang="en-US"/>
              <a:t>output: True</a:t>
            </a:r>
            <a:br>
              <a:rPr lang="en-US"/>
            </a:br>
            <a:r>
              <a:rPr lang="en-US"/>
              <a:t> → Wrong (✗) </a:t>
            </a:r>
            <a:endParaRPr/>
          </a:p>
        </p:txBody>
      </p:sp>
      <p:sp>
        <p:nvSpPr>
          <p:cNvPr id="321" name="Google Shape;321;g37cd93ceb5a_0_175"/>
          <p:cNvSpPr/>
          <p:nvPr/>
        </p:nvSpPr>
        <p:spPr>
          <a:xfrm>
            <a:off x="3601450" y="2298025"/>
            <a:ext cx="2145600" cy="1263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Reasoning Mode</a:t>
            </a:r>
            <a:br>
              <a:rPr lang="en-US"/>
            </a:br>
            <a:r>
              <a:rPr lang="en-US"/>
              <a:t>Output: "Yes, cow  needs tiger"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→ Wrong (✗)</a:t>
            </a:r>
            <a:endParaRPr/>
          </a:p>
        </p:txBody>
      </p:sp>
      <p:sp>
        <p:nvSpPr>
          <p:cNvPr id="322" name="Google Shape;322;g37cd93ceb5a_0_175"/>
          <p:cNvSpPr txBox="1"/>
          <p:nvPr/>
        </p:nvSpPr>
        <p:spPr>
          <a:xfrm>
            <a:off x="1884950" y="4411575"/>
            <a:ext cx="46722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happened?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Direct: ignored negation ("does not need").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Reasoning: produced step-by-step trace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rationalized the wrong conclusion.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AV protocol sometimes corrected these,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flipping ~30–50% of such errors.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7cd93ceb5a_0_175"/>
          <p:cNvSpPr txBox="1"/>
          <p:nvPr/>
        </p:nvSpPr>
        <p:spPr>
          <a:xfrm>
            <a:off x="7078575" y="4732425"/>
            <a:ext cx="4291200" cy="831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“Reasoning improves shallow accuracy briefly, but at higher depths it collapses — models rationalize wrong answers instead of correcting them.”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g37cd93ceb5a_0_198" title="acc_gpt5_clutr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859228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7cd93ceb5a_0_198" title="acc_gpt5_proofwrit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4384" y="152400"/>
            <a:ext cx="5716816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7cd93ceb5a_0_198"/>
          <p:cNvSpPr txBox="1"/>
          <p:nvPr/>
        </p:nvSpPr>
        <p:spPr>
          <a:xfrm>
            <a:off x="6858000" y="4827500"/>
            <a:ext cx="47724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“Direct accuracy increases steadily (50% → 90% by depth-4), but reasoning collapses from 20% at depth-1 to 0% by depth-4. Strongest evidence of reasoning instability.”</a:t>
            </a:r>
            <a:endParaRPr/>
          </a:p>
        </p:txBody>
      </p:sp>
      <p:sp>
        <p:nvSpPr>
          <p:cNvPr id="331" name="Google Shape;331;g37cd93ceb5a_0_198"/>
          <p:cNvSpPr txBox="1"/>
          <p:nvPr/>
        </p:nvSpPr>
        <p:spPr>
          <a:xfrm>
            <a:off x="1062800" y="4827500"/>
            <a:ext cx="4612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“Direct mode stays flat at 10% across depths, while reasoning spikes at depth-2 (+20%) then collapses to 0%. Shows shallow reasoning gain followed by collapse.”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g37cd93ceb5a_0_226" title="delta_gpt5_proofwri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38" y="112300"/>
            <a:ext cx="546735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7cd93ceb5a_0_226" title="delta_gpt5_clutr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0288" y="112300"/>
            <a:ext cx="5591175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7cd93ceb5a_0_226"/>
          <p:cNvSpPr txBox="1"/>
          <p:nvPr/>
        </p:nvSpPr>
        <p:spPr>
          <a:xfrm>
            <a:off x="1243275" y="4672275"/>
            <a:ext cx="4551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“Reasoning sharply reduces accuracy (–30pp to –90pp). Demonstrates that reasoning effort becomes counterproductive at higher depths.”</a:t>
            </a:r>
            <a:endParaRPr/>
          </a:p>
        </p:txBody>
      </p:sp>
      <p:sp>
        <p:nvSpPr>
          <p:cNvPr id="339" name="Google Shape;339;g37cd93ceb5a_0_226"/>
          <p:cNvSpPr txBox="1"/>
          <p:nvPr/>
        </p:nvSpPr>
        <p:spPr>
          <a:xfrm>
            <a:off x="6998375" y="4672275"/>
            <a:ext cx="4703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“Reasoning helps briefly at depth-2 (+10pp) but harms beyond depth-3 (–10pp). Clear sign of collapse after shallow depth.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g37cd93ceb5a_0_237" title="acc_llama31_8b_proofwri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5305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g37cd93ceb5a_0_237" title="acc_llama31_8b_clutr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7850" y="152400"/>
            <a:ext cx="53530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7cd93ceb5a_0_237"/>
          <p:cNvSpPr txBox="1"/>
          <p:nvPr/>
        </p:nvSpPr>
        <p:spPr>
          <a:xfrm>
            <a:off x="6834375" y="47123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“Stable direct baseline (20% across depths). Reasoning provides small shallow gain (30% at depth-2) but no benefit beyond.”</a:t>
            </a:r>
            <a:endParaRPr/>
          </a:p>
        </p:txBody>
      </p:sp>
      <p:sp>
        <p:nvSpPr>
          <p:cNvPr id="347" name="Google Shape;347;g37cd93ceb5a_0_237"/>
          <p:cNvSpPr txBox="1"/>
          <p:nvPr/>
        </p:nvSpPr>
        <p:spPr>
          <a:xfrm>
            <a:off x="1764650" y="47123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“Direct accuracy improves with depth (up to 60% at d=5). Reasoning fluctuates (20–50%) but fails to add consistent gains.”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g37cd93ceb5a_0_244" title="delta_llama31_8b_proofwri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688" y="212550"/>
            <a:ext cx="559117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7cd93ceb5a_0_244" title="delta_llama31_8b_clutr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263" y="212550"/>
            <a:ext cx="53530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7cd93ceb5a_0_244"/>
          <p:cNvSpPr txBox="1"/>
          <p:nvPr/>
        </p:nvSpPr>
        <p:spPr>
          <a:xfrm>
            <a:off x="7680150" y="47524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“Reasoning gives +10pp at depth-2 but provides no further benefit, flattening afterwards.”</a:t>
            </a:r>
            <a:endParaRPr/>
          </a:p>
        </p:txBody>
      </p:sp>
      <p:sp>
        <p:nvSpPr>
          <p:cNvPr id="355" name="Google Shape;355;g37cd93ceb5a_0_244"/>
          <p:cNvSpPr txBox="1"/>
          <p:nvPr/>
        </p:nvSpPr>
        <p:spPr>
          <a:xfrm>
            <a:off x="2225825" y="475247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“Reasoning offers a late boost at depth-4 (+10pp) but collapses at depth-5 (–10pp).”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37cd93ceb5a_0_211" title="acc_qwen25_7b_proofwri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300" y="372975"/>
            <a:ext cx="535305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37cd93ceb5a_0_211" title="acc_qwen25_7b_clutr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9750" y="372975"/>
            <a:ext cx="53530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7cd93ceb5a_0_211"/>
          <p:cNvSpPr txBox="1"/>
          <p:nvPr/>
        </p:nvSpPr>
        <p:spPr>
          <a:xfrm>
            <a:off x="7660125" y="49730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“Highly unstable: direct accuracy spikes to 30% at depth-5, reasoning improves at depth-4 (20%) but collapses at depth-5 (0%).”</a:t>
            </a:r>
            <a:endParaRPr/>
          </a:p>
        </p:txBody>
      </p:sp>
      <p:sp>
        <p:nvSpPr>
          <p:cNvPr id="363" name="Google Shape;363;g37cd93ceb5a_0_211"/>
          <p:cNvSpPr txBox="1"/>
          <p:nvPr/>
        </p:nvSpPr>
        <p:spPr>
          <a:xfrm>
            <a:off x="2546675" y="49730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“Direct accuracy climbs to 60% at depth-5, reasoning follows similar trend but lags slightly. More stable than CLUTRR but still inconsistent.”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g37cd93ceb5a_0_221" title="delta_qwen25_7b_clutr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38" y="252675"/>
            <a:ext cx="546735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7cd93ceb5a_0_221" title="delta_qwen25_7b_proofwrit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0288" y="252675"/>
            <a:ext cx="5591175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7cd93ceb5a_0_221"/>
          <p:cNvSpPr txBox="1"/>
          <p:nvPr/>
        </p:nvSpPr>
        <p:spPr>
          <a:xfrm>
            <a:off x="2145625" y="4792600"/>
            <a:ext cx="30000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D0D0D"/>
                </a:solidFill>
                <a:highlight>
                  <a:srgbClr val="FFFFFF"/>
                </a:highlight>
              </a:rPr>
              <a:t>“Large positive gain at depth-4 (+20pp), then collapse at depth-5 (–30pp). Illustrates unstable reasoning benefits.”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71" name="Google Shape;371;g37cd93ceb5a_0_221"/>
          <p:cNvSpPr txBox="1"/>
          <p:nvPr/>
        </p:nvSpPr>
        <p:spPr>
          <a:xfrm>
            <a:off x="7900725" y="47926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“Reasoning harms at shallow depth (–10pp) but adds +10pp at depth-4, then collapses again at depth-5. Pattern of unstable flips.”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g37cd93ceb5a_0_276" title="acc_deepseek_r1d_qwen32b_proofwri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13" y="332875"/>
            <a:ext cx="564832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g37cd93ceb5a_0_276" title="acc_deepseek_r1d_qwen32b_clutr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838" y="332875"/>
            <a:ext cx="53530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7cd93ceb5a_0_276"/>
          <p:cNvSpPr txBox="1"/>
          <p:nvPr/>
        </p:nvSpPr>
        <p:spPr>
          <a:xfrm>
            <a:off x="1804725" y="5013150"/>
            <a:ext cx="3561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“Both direct and reasoning accuracy flatline at 0% across all depths. Total collapse.”</a:t>
            </a:r>
            <a:endParaRPr/>
          </a:p>
        </p:txBody>
      </p:sp>
      <p:sp>
        <p:nvSpPr>
          <p:cNvPr id="379" name="Google Shape;379;g37cd93ceb5a_0_276"/>
          <p:cNvSpPr txBox="1"/>
          <p:nvPr/>
        </p:nvSpPr>
        <p:spPr>
          <a:xfrm>
            <a:off x="7279100" y="4905450"/>
            <a:ext cx="3870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“Direct accuracy remains 0%; reasoning reaches only 10% at depths 2 and 6. Essentially collapsed from start.”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g37cd93ceb5a_0_283" title="acc_glm45_air_proofwri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688" y="332850"/>
            <a:ext cx="559117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7cd93ceb5a_0_283" title="acc_glm45_air_clutr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263" y="332850"/>
            <a:ext cx="5353050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7cd93ceb5a_0_283"/>
          <p:cNvSpPr txBox="1"/>
          <p:nvPr/>
        </p:nvSpPr>
        <p:spPr>
          <a:xfrm>
            <a:off x="2306050" y="49129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“Flatline at 0% for both direct and reasoning modes across depths. No reasoning ability detected.”</a:t>
            </a:r>
            <a:endParaRPr/>
          </a:p>
        </p:txBody>
      </p:sp>
      <p:sp>
        <p:nvSpPr>
          <p:cNvPr id="387" name="Google Shape;387;g37cd93ceb5a_0_283"/>
          <p:cNvSpPr txBox="1"/>
          <p:nvPr/>
        </p:nvSpPr>
        <p:spPr>
          <a:xfrm>
            <a:off x="7467800" y="49129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“Direct accuracy starts at 10% but collapses after depth-3; reasoning accuracy stays 0%. Model cannot leverage reasoning.”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cd93ceb5a_0_63"/>
          <p:cNvSpPr txBox="1"/>
          <p:nvPr/>
        </p:nvSpPr>
        <p:spPr>
          <a:xfrm>
            <a:off x="237200" y="21565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/>
              <a:t>Results</a:t>
            </a:r>
            <a:endParaRPr sz="2300" b="1"/>
          </a:p>
        </p:txBody>
      </p:sp>
      <p:sp>
        <p:nvSpPr>
          <p:cNvPr id="393" name="Google Shape;393;g37cd93ceb5a_0_63"/>
          <p:cNvSpPr txBox="1"/>
          <p:nvPr/>
        </p:nvSpPr>
        <p:spPr>
          <a:xfrm>
            <a:off x="237200" y="970475"/>
            <a:ext cx="485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300" b="1">
                <a:solidFill>
                  <a:schemeClr val="dk1"/>
                </a:solidFill>
              </a:rPr>
              <a:t>(a) Accuracy by Depth (Direct vs Reasoning)</a:t>
            </a:r>
            <a:endParaRPr sz="1300" b="1">
              <a:solidFill>
                <a:schemeClr val="dk1"/>
              </a:solidFill>
            </a:endParaRPr>
          </a:p>
        </p:txBody>
      </p:sp>
      <p:graphicFrame>
        <p:nvGraphicFramePr>
          <p:cNvPr id="394" name="Google Shape;394;g37cd93ceb5a_0_63"/>
          <p:cNvGraphicFramePr/>
          <p:nvPr/>
        </p:nvGraphicFramePr>
        <p:xfrm>
          <a:off x="237200" y="1769850"/>
          <a:ext cx="11382375" cy="3102303"/>
        </p:xfrm>
        <a:graphic>
          <a:graphicData uri="http://schemas.openxmlformats.org/drawingml/2006/table">
            <a:tbl>
              <a:tblPr>
                <a:noFill/>
                <a:tableStyleId>{73843C3A-6B85-472B-9622-D238AD5EE330}</a:tableStyleId>
              </a:tblPr>
              <a:tblGrid>
                <a:gridCol w="101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Model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CLUTRR d=2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CLUTRR d=3–6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ProofWriter d=1–5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Notes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GPT-5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Direct: 10% → stable up to d=6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Reasoning: +10pp at d=2, but collapse ≥3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Up to 90% direct accuracy at depth-4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Strongest baseline; but reasoning collapses quickly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LLaMA-3.1-8B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Direct: 20% across depths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Reasoning: +10pp at shallow depth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Up to 60% direct accuracy (ProofWriter)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Reasoning gave stable small gains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Qwen-2.5-7B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Direct: 10–30%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Reasoning: +20pp at d=4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Up to 60% direct accuracy (ProofWriter)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Some reasoning gains visible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DeepSeek-32B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Direct: 0%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Reasoning: +10pp at d=2,6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0% across ProofWriter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Struggled overall, minor shallow gains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GLM-4.5-Air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Direct: 10% at d=2–3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Reasoning: 0%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0% ProofWriter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Collapsed completely under reasoning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5" name="Google Shape;395;g37cd93ceb5a_0_63"/>
          <p:cNvSpPr txBox="1"/>
          <p:nvPr/>
        </p:nvSpPr>
        <p:spPr>
          <a:xfrm>
            <a:off x="603850" y="5499350"/>
            <a:ext cx="66603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GPT-5</a:t>
            </a:r>
            <a:r>
              <a:rPr lang="en-US" sz="1100">
                <a:solidFill>
                  <a:schemeClr val="dk1"/>
                </a:solidFill>
              </a:rPr>
              <a:t> achieved the </a:t>
            </a:r>
            <a:r>
              <a:rPr lang="en-US" sz="1100" b="1">
                <a:solidFill>
                  <a:schemeClr val="dk1"/>
                </a:solidFill>
              </a:rPr>
              <a:t>highest absolute performance (up to 90%)</a:t>
            </a:r>
            <a:r>
              <a:rPr lang="en-US" sz="1100">
                <a:solidFill>
                  <a:schemeClr val="dk1"/>
                </a:solidFill>
              </a:rPr>
              <a:t> on ProofWriter at depth-4.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LLaMA-3.1-8B</a:t>
            </a:r>
            <a:r>
              <a:rPr lang="en-US" sz="1100">
                <a:solidFill>
                  <a:schemeClr val="dk1"/>
                </a:solidFill>
              </a:rPr>
              <a:t> was the most </a:t>
            </a:r>
            <a:r>
              <a:rPr lang="en-US" sz="1100" b="1">
                <a:solidFill>
                  <a:schemeClr val="dk1"/>
                </a:solidFill>
              </a:rPr>
              <a:t>stable under reasoning</a:t>
            </a:r>
            <a:r>
              <a:rPr lang="en-US" sz="1100">
                <a:solidFill>
                  <a:schemeClr val="dk1"/>
                </a:solidFill>
              </a:rPr>
              <a:t>, small but consistent gains.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Other models collapsed almost immediately.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6" name="Google Shape;396;g37cd93ceb5a_0_63"/>
          <p:cNvSpPr txBox="1"/>
          <p:nvPr/>
        </p:nvSpPr>
        <p:spPr>
          <a:xfrm>
            <a:off x="7264175" y="5244050"/>
            <a:ext cx="4222500" cy="12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Model differences: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GPT-5: best baseline, but reasoning unstable.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LLaMA: small but steady reasoning gains.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Qwen: volatile (sometimes +20pp, sometimes –30pp).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DeepSeek &amp; GLM: collapse immediately.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7cd93ceb5a_0_77"/>
          <p:cNvSpPr txBox="1"/>
          <p:nvPr/>
        </p:nvSpPr>
        <p:spPr>
          <a:xfrm>
            <a:off x="2060375" y="809350"/>
            <a:ext cx="40986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ΔReasoning vs Direct</a:t>
            </a:r>
            <a:endParaRPr sz="1900"/>
          </a:p>
        </p:txBody>
      </p:sp>
      <p:graphicFrame>
        <p:nvGraphicFramePr>
          <p:cNvPr id="402" name="Google Shape;402;g37cd93ceb5a_0_77"/>
          <p:cNvGraphicFramePr/>
          <p:nvPr/>
        </p:nvGraphicFramePr>
        <p:xfrm>
          <a:off x="1682500" y="1659350"/>
          <a:ext cx="8141025" cy="2340303"/>
        </p:xfrm>
        <a:graphic>
          <a:graphicData uri="http://schemas.openxmlformats.org/drawingml/2006/table">
            <a:tbl>
              <a:tblPr>
                <a:noFill/>
                <a:tableStyleId>{73843C3A-6B85-472B-9622-D238AD5EE330}</a:tableStyleId>
              </a:tblPr>
              <a:tblGrid>
                <a:gridCol w="149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1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Model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Max ΔReasoning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Dataset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Depth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Notes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GPT-5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+10pp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CLUTRR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Reasoning only helps at shallow depth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LLaMA-3.1-8B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+10pp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CLUTRR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Stable small boosts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Qwen-2.5-7B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+20pp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CLUTRR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Best shallow gain besides GPT-5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DeepSeek-32B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+10pp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CLUTRR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d=2,6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Very shallow improvement only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GLM-4.5-Air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-10pp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CLUTRR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d=2–3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Reasoning hurt performance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3" name="Google Shape;403;g37cd93ceb5a_0_77"/>
          <p:cNvSpPr txBox="1"/>
          <p:nvPr/>
        </p:nvSpPr>
        <p:spPr>
          <a:xfrm>
            <a:off x="1824400" y="4746775"/>
            <a:ext cx="8355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Reasoning gives </a:t>
            </a:r>
            <a:r>
              <a:rPr lang="en-US" sz="1100" b="1">
                <a:solidFill>
                  <a:schemeClr val="dk1"/>
                </a:solidFill>
              </a:rPr>
              <a:t>localized improvements</a:t>
            </a:r>
            <a:r>
              <a:rPr lang="en-US" sz="1100">
                <a:solidFill>
                  <a:schemeClr val="dk1"/>
                </a:solidFill>
              </a:rPr>
              <a:t> (depth 2–4), but collapses at larger depths.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GPT-5 and Qwen-7B showed the </a:t>
            </a:r>
            <a:r>
              <a:rPr lang="en-US" sz="1100" b="1">
                <a:solidFill>
                  <a:schemeClr val="dk1"/>
                </a:solidFill>
              </a:rPr>
              <a:t>clearest shallow gains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04" name="Google Shape;404;g37cd93ceb5a_0_77"/>
          <p:cNvSpPr txBox="1"/>
          <p:nvPr/>
        </p:nvSpPr>
        <p:spPr>
          <a:xfrm>
            <a:off x="1936475" y="4367700"/>
            <a:ext cx="379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Reasoning improved accuracy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7cd93ceb5a_0_88"/>
          <p:cNvSpPr txBox="1"/>
          <p:nvPr/>
        </p:nvSpPr>
        <p:spPr>
          <a:xfrm>
            <a:off x="4069550" y="1331900"/>
            <a:ext cx="3733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/>
              <a:t>Collapse Points</a:t>
            </a:r>
            <a:endParaRPr sz="2100" b="1"/>
          </a:p>
        </p:txBody>
      </p:sp>
      <p:graphicFrame>
        <p:nvGraphicFramePr>
          <p:cNvPr id="410" name="Google Shape;410;g37cd93ceb5a_0_88"/>
          <p:cNvGraphicFramePr/>
          <p:nvPr/>
        </p:nvGraphicFramePr>
        <p:xfrm>
          <a:off x="2832100" y="1952900"/>
          <a:ext cx="6987225" cy="2553663"/>
        </p:xfrm>
        <a:graphic>
          <a:graphicData uri="http://schemas.openxmlformats.org/drawingml/2006/table">
            <a:tbl>
              <a:tblPr>
                <a:noFill/>
                <a:tableStyleId>{73843C3A-6B85-472B-9622-D238AD5EE330}</a:tableStyleId>
              </a:tblPr>
              <a:tblGrid>
                <a:gridCol w="116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Model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Collapse Depth (CLUTRR)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Collapse Depth (ProofWriter)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GPT-5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 (Reasoning), direct stable longer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collapse in direct (ProofWriter up to 90%)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LLaMA-3.1-8B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 (Reasoning stable till ~2)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 (both modes)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Qwen-2.5-7B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DeepSeek-32B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GLM-4.5-Air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d=1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1" name="Google Shape;411;g37cd93ceb5a_0_88"/>
          <p:cNvSpPr txBox="1"/>
          <p:nvPr/>
        </p:nvSpPr>
        <p:spPr>
          <a:xfrm>
            <a:off x="2832100" y="5121650"/>
            <a:ext cx="7246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All models collapse early (≤2)</a:t>
            </a:r>
            <a:r>
              <a:rPr lang="en-US" sz="1100">
                <a:solidFill>
                  <a:schemeClr val="dk1"/>
                </a:solidFill>
              </a:rPr>
              <a:t> except </a:t>
            </a:r>
            <a:r>
              <a:rPr lang="en-US" sz="1100" b="1">
                <a:solidFill>
                  <a:schemeClr val="dk1"/>
                </a:solidFill>
              </a:rPr>
              <a:t>GPT-5 direct</a:t>
            </a:r>
            <a:r>
              <a:rPr lang="en-US" sz="1100">
                <a:solidFill>
                  <a:schemeClr val="dk1"/>
                </a:solidFill>
              </a:rPr>
              <a:t>, which sustains on ProofWriter until d=5.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Collapse depth is the </a:t>
            </a:r>
            <a:r>
              <a:rPr lang="en-US" sz="1100" b="1">
                <a:solidFill>
                  <a:schemeClr val="dk1"/>
                </a:solidFill>
              </a:rPr>
              <a:t>main bottleneck</a:t>
            </a:r>
            <a:r>
              <a:rPr lang="en-US" sz="1100">
                <a:solidFill>
                  <a:schemeClr val="dk1"/>
                </a:solidFill>
              </a:rPr>
              <a:t> revealed by this work.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cd93ceb5a_0_3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 </a:t>
            </a:r>
            <a:endParaRPr/>
          </a:p>
        </p:txBody>
      </p:sp>
      <p:sp>
        <p:nvSpPr>
          <p:cNvPr id="417" name="Google Shape;417;g37cd93ceb5a_0_39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900"/>
              <a:t>Across five models, </a:t>
            </a:r>
            <a:r>
              <a:rPr lang="en-US" sz="2900" b="1"/>
              <a:t>GPT-5 achieved the strongest baseline accuracy</a:t>
            </a:r>
            <a:r>
              <a:rPr lang="en-US" sz="2900"/>
              <a:t>, reaching up to 90% on ProofWriter at depth-4, but collapsed under reasoning beyond depth-2. </a:t>
            </a:r>
            <a:r>
              <a:rPr lang="en-US" sz="2900" b="1"/>
              <a:t>LLaMA-3.1-8B</a:t>
            </a:r>
            <a:r>
              <a:rPr lang="en-US" sz="2900"/>
              <a:t> showed small yet consistent reasoning gains, while </a:t>
            </a:r>
            <a:r>
              <a:rPr lang="en-US" sz="2900" b="1"/>
              <a:t>Qwen-2.5-7B</a:t>
            </a:r>
            <a:r>
              <a:rPr lang="en-US" sz="2900"/>
              <a:t> achieved localized improvements at intermediate depth. In contrast, </a:t>
            </a:r>
            <a:r>
              <a:rPr lang="en-US" sz="2900" b="1"/>
              <a:t>DeepSeek-32B</a:t>
            </a:r>
            <a:r>
              <a:rPr lang="en-US" sz="2900"/>
              <a:t> and </a:t>
            </a:r>
            <a:r>
              <a:rPr lang="en-US" sz="2900" b="1"/>
              <a:t>GLM-4.5-Air</a:t>
            </a:r>
            <a:r>
              <a:rPr lang="en-US" sz="2900"/>
              <a:t> failed to generalize, often collapsing immediately. These results confirm that </a:t>
            </a:r>
            <a:r>
              <a:rPr lang="en-US" sz="2900" b="1"/>
              <a:t>reasoning helps briefly at shallow depth but universally collapses as depth grows</a:t>
            </a:r>
            <a:r>
              <a:rPr lang="en-US" sz="2900"/>
              <a:t>.</a:t>
            </a:r>
            <a:endParaRPr sz="4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7cd93ceb5a_0_11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&amp; Future Work</a:t>
            </a:r>
            <a:endParaRPr/>
          </a:p>
        </p:txBody>
      </p:sp>
      <p:sp>
        <p:nvSpPr>
          <p:cNvPr id="423" name="Google Shape;423;g37cd93ceb5a_0_117"/>
          <p:cNvSpPr txBox="1">
            <a:spLocks noGrp="1"/>
          </p:cNvSpPr>
          <p:nvPr>
            <p:ph type="subTitle" idx="1"/>
          </p:nvPr>
        </p:nvSpPr>
        <p:spPr>
          <a:xfrm>
            <a:off x="609477" y="1604525"/>
            <a:ext cx="5817300" cy="397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/>
              <a:t>Conclusion:</a:t>
            </a:r>
            <a:endParaRPr sz="1600" b="1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LLMs show </a:t>
            </a:r>
            <a:r>
              <a:rPr lang="en-US" sz="1600" b="1"/>
              <a:t>shallow reasoning gains</a:t>
            </a:r>
            <a:r>
              <a:rPr lang="en-US" sz="1600"/>
              <a:t> (depth ≤2–3).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 b="1"/>
              <a:t>Collapse is universal</a:t>
            </a:r>
            <a:r>
              <a:rPr lang="en-US" sz="1600"/>
              <a:t> beyond moderate depth.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 b="1"/>
              <a:t>GPT-5</a:t>
            </a:r>
            <a:r>
              <a:rPr lang="en-US" sz="1600"/>
              <a:t> achieved highest baseline (up to 90% on ProofWriter).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 b="1"/>
              <a:t>LLaMA-3.1-8B</a:t>
            </a:r>
            <a:r>
              <a:rPr lang="en-US" sz="1600"/>
              <a:t> gave </a:t>
            </a:r>
            <a:r>
              <a:rPr lang="en-US" sz="1600" b="1"/>
              <a:t>most stable small gains with minimal tokens</a:t>
            </a:r>
            <a:r>
              <a:rPr lang="en-US" sz="1600"/>
              <a:t>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 b="1"/>
              <a:t>Qwen-2.5-7B</a:t>
            </a:r>
            <a:r>
              <a:rPr lang="en-US" sz="1600"/>
              <a:t> demonstrated </a:t>
            </a:r>
            <a:r>
              <a:rPr lang="en-US" sz="1600" b="1"/>
              <a:t>best calibration and AV correction</a:t>
            </a:r>
            <a:r>
              <a:rPr lang="en-US" sz="1600"/>
              <a:t> (up to 50% flips).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37cd93ceb5a_0_117"/>
          <p:cNvSpPr txBox="1"/>
          <p:nvPr/>
        </p:nvSpPr>
        <p:spPr>
          <a:xfrm>
            <a:off x="6728625" y="2246375"/>
            <a:ext cx="5326800" cy="26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Future Work (bullets):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Expand dataset coverage to </a:t>
            </a:r>
            <a:r>
              <a:rPr lang="en-US" sz="1500" b="1">
                <a:solidFill>
                  <a:schemeClr val="dk1"/>
                </a:solidFill>
              </a:rPr>
              <a:t>broader reasoning domains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Explore </a:t>
            </a:r>
            <a:r>
              <a:rPr lang="en-US" sz="1500" b="1">
                <a:solidFill>
                  <a:schemeClr val="dk1"/>
                </a:solidFill>
              </a:rPr>
              <a:t>consistency-regularized training</a:t>
            </a:r>
            <a:r>
              <a:rPr lang="en-US" sz="1500">
                <a:solidFill>
                  <a:schemeClr val="dk1"/>
                </a:solidFill>
              </a:rPr>
              <a:t> to delay collapse.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Study </a:t>
            </a:r>
            <a:r>
              <a:rPr lang="en-US" sz="1500" b="1">
                <a:solidFill>
                  <a:schemeClr val="dk1"/>
                </a:solidFill>
              </a:rPr>
              <a:t>scaling laws</a:t>
            </a:r>
            <a:r>
              <a:rPr lang="en-US" sz="1500">
                <a:solidFill>
                  <a:schemeClr val="dk1"/>
                </a:solidFill>
              </a:rPr>
              <a:t>: how collapse depth shifts with larger models.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Apply framework to </a:t>
            </a:r>
            <a:r>
              <a:rPr lang="en-US" sz="1500" b="1">
                <a:solidFill>
                  <a:schemeClr val="dk1"/>
                </a:solidFill>
              </a:rPr>
              <a:t>curriculum learning &amp; evaluation protocols</a:t>
            </a:r>
            <a:r>
              <a:rPr lang="en-US" sz="1500">
                <a:solidFill>
                  <a:schemeClr val="dk1"/>
                </a:solidFill>
              </a:rPr>
              <a:t> for reasoning robustness.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7cd93ceb5a_0_127"/>
          <p:cNvSpPr txBox="1">
            <a:spLocks noGrp="1"/>
          </p:cNvSpPr>
          <p:nvPr>
            <p:ph type="subTitle" idx="1"/>
          </p:nvPr>
        </p:nvSpPr>
        <p:spPr>
          <a:xfrm>
            <a:off x="609475" y="273600"/>
            <a:ext cx="10972500" cy="592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Experimentation shows that reasoning helps LLMs only at shallow depths before accuracy universally collapses. </a:t>
            </a:r>
            <a:r>
              <a:rPr lang="en-US" u="sng"/>
              <a:t>GPT-5 reached the highest baselines</a:t>
            </a:r>
            <a:r>
              <a:rPr lang="en-US"/>
              <a:t>, </a:t>
            </a:r>
            <a:r>
              <a:rPr lang="en-US" u="sng"/>
              <a:t>LLaMA-3.1-8B offered efficient small gains</a:t>
            </a:r>
            <a:r>
              <a:rPr lang="en-US"/>
              <a:t>, and </a:t>
            </a:r>
            <a:r>
              <a:rPr lang="en-US" u="sng"/>
              <a:t>Qwen-2.5-7B excelled at calibration and verification</a:t>
            </a:r>
            <a:r>
              <a:rPr lang="en-US"/>
              <a:t>. These findings highlight collapse as a fundamental bottleneck and motivate future work on consistency training, broader datasets, and scaling laws to extend reasoning reliability.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400dc9feb1_0_0"/>
          <p:cNvSpPr txBox="1">
            <a:spLocks noGrp="1"/>
          </p:cNvSpPr>
          <p:nvPr>
            <p:ph type="title"/>
          </p:nvPr>
        </p:nvSpPr>
        <p:spPr>
          <a:xfrm>
            <a:off x="4093803" y="2633000"/>
            <a:ext cx="40044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5984</Words>
  <Application>Microsoft Office PowerPoint</Application>
  <PresentationFormat>Widescreen</PresentationFormat>
  <Paragraphs>658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Roboto Mono</vt:lpstr>
      <vt:lpstr>Arial</vt:lpstr>
      <vt:lpstr>Office Theme</vt:lpstr>
      <vt:lpstr>AAAI Student Abstract</vt:lpstr>
      <vt:lpstr>When Reasoning Collapses: A Depth-Aware Probe into LLM Reasoning </vt:lpstr>
      <vt:lpstr>Contents</vt:lpstr>
      <vt:lpstr> Introduction &amp; Motivation</vt:lpstr>
      <vt:lpstr>Problem Statement </vt:lpstr>
      <vt:lpstr>Datasets: for Reasoning Depth Evaluation</vt:lpstr>
      <vt:lpstr>PowerPoint Presentation</vt:lpstr>
      <vt:lpstr> Methodology</vt:lpstr>
      <vt:lpstr>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</vt:lpstr>
      <vt:lpstr>Conclusion &amp; Future Work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WAI KONG LEE</dc:creator>
  <cp:lastModifiedBy>AZKA</cp:lastModifiedBy>
  <cp:revision>1</cp:revision>
  <dcterms:created xsi:type="dcterms:W3CDTF">2020-05-12T04:49:03Z</dcterms:created>
  <dcterms:modified xsi:type="dcterms:W3CDTF">2025-09-14T04:49:21Z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7</vt:i4>
  </property>
</Properties>
</file>