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5"/>
  </p:notesMasterIdLst>
  <p:sldIdLst>
    <p:sldId id="256" r:id="rId2"/>
    <p:sldId id="258" r:id="rId3"/>
    <p:sldId id="312" r:id="rId4"/>
    <p:sldId id="260" r:id="rId5"/>
    <p:sldId id="261" r:id="rId6"/>
    <p:sldId id="313" r:id="rId7"/>
    <p:sldId id="314" r:id="rId8"/>
    <p:sldId id="262" r:id="rId9"/>
    <p:sldId id="316" r:id="rId10"/>
    <p:sldId id="318" r:id="rId11"/>
    <p:sldId id="317" r:id="rId12"/>
    <p:sldId id="265" r:id="rId13"/>
    <p:sldId id="263" r:id="rId14"/>
    <p:sldId id="320" r:id="rId15"/>
    <p:sldId id="319" r:id="rId16"/>
    <p:sldId id="321" r:id="rId17"/>
    <p:sldId id="322" r:id="rId18"/>
    <p:sldId id="323" r:id="rId19"/>
    <p:sldId id="324" r:id="rId20"/>
    <p:sldId id="266" r:id="rId21"/>
    <p:sldId id="288" r:id="rId22"/>
    <p:sldId id="315" r:id="rId23"/>
    <p:sldId id="259" r:id="rId24"/>
  </p:sldIdLst>
  <p:sldSz cx="9144000" cy="5143500" type="screen16x9"/>
  <p:notesSz cx="6858000" cy="9144000"/>
  <p:embeddedFontLst>
    <p:embeddedFont>
      <p:font typeface="Commissioner" panose="020B0604020202020204" charset="0"/>
      <p:regular r:id="rId26"/>
      <p:bold r:id="rId27"/>
    </p:embeddedFont>
    <p:embeddedFont>
      <p:font typeface="Golos Text" panose="020B0604020202020204" charset="0"/>
      <p:regular r:id="rId28"/>
      <p:bold r:id="rId29"/>
    </p:embeddedFont>
    <p:embeddedFont>
      <p:font typeface="Golos Text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1839D-4534-44A8-AD11-3C597D23631B}">
  <a:tblStyle styleId="{F181839D-4534-44A8-AD11-3C597D2363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8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747bfd1ed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747bfd1ed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747bfd1ed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747bfd1ed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1FB6AD6B-4AB1-9C48-F180-1845D4D2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747bfd1ede_0_89:notes">
            <a:extLst>
              <a:ext uri="{FF2B5EF4-FFF2-40B4-BE49-F238E27FC236}">
                <a16:creationId xmlns:a16="http://schemas.microsoft.com/office/drawing/2014/main" id="{31286F85-DAA7-017A-2FB9-B16F9043E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747bfd1ede_0_89:notes">
            <a:extLst>
              <a:ext uri="{FF2B5EF4-FFF2-40B4-BE49-F238E27FC236}">
                <a16:creationId xmlns:a16="http://schemas.microsoft.com/office/drawing/2014/main" id="{27B90DD2-E5A9-2F44-6CDD-1109753C1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8470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64804B18-4421-E101-9983-98196AC5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400114B6-1C13-8612-4F1A-FEEE62F82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8BEB3045-05EF-DE94-71F2-232D659D8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486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40DF86BA-0028-23BD-8123-0F43889B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5843FD4D-E86C-9A56-E2FF-704B94CE39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8724D6F9-2581-6E48-9092-9EFB7E19F7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443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43df0acb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43df0acb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B1E76201-52A6-4EC4-6E9D-D81972728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0CDEA68F-5FE1-79CD-A23B-6D9AE8B130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6872DFE4-B5EF-514C-7CF7-4A216F0118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519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75584fc2f6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75584fc2f6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3e1fc50fc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3e1fc50fc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C01CC3DA-BF24-B64A-000C-EB94840BE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3978C2E8-063F-E5E2-D113-4208B2499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DB1E254C-7071-81BE-3F52-014AB3601A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839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BD005CB6-1A0F-88D4-21C4-BABD7C54E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3e1fc50fc5_0_14:notes">
            <a:extLst>
              <a:ext uri="{FF2B5EF4-FFF2-40B4-BE49-F238E27FC236}">
                <a16:creationId xmlns:a16="http://schemas.microsoft.com/office/drawing/2014/main" id="{536AD047-CF06-8FE6-ABA9-E621FDAD84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3e1fc50fc5_0_14:notes">
            <a:extLst>
              <a:ext uri="{FF2B5EF4-FFF2-40B4-BE49-F238E27FC236}">
                <a16:creationId xmlns:a16="http://schemas.microsoft.com/office/drawing/2014/main" id="{CC596F61-925A-7FFE-5BDF-4FB974755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2581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1AC3F466-90C4-4082-624C-C205C0655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5944D85D-2C56-C8C4-38A8-FEC20301F4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5D59D22A-475C-5B46-5DB0-20167DA285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369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d0e38a952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d0e38a952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0" name="Google Shape;4780;g11d2026ec69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1" name="Google Shape;4781;g11d2026ec69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9">
          <a:extLst>
            <a:ext uri="{FF2B5EF4-FFF2-40B4-BE49-F238E27FC236}">
              <a16:creationId xmlns:a16="http://schemas.microsoft.com/office/drawing/2014/main" id="{3471491A-4231-BE36-2D4E-E576525F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0" name="Google Shape;4780;g11d2026ec69_0_623:notes">
            <a:extLst>
              <a:ext uri="{FF2B5EF4-FFF2-40B4-BE49-F238E27FC236}">
                <a16:creationId xmlns:a16="http://schemas.microsoft.com/office/drawing/2014/main" id="{4CBCC0E4-B73A-A7B9-CB18-727220637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1" name="Google Shape;4781;g11d2026ec69_0_623:notes">
            <a:extLst>
              <a:ext uri="{FF2B5EF4-FFF2-40B4-BE49-F238E27FC236}">
                <a16:creationId xmlns:a16="http://schemas.microsoft.com/office/drawing/2014/main" id="{D986E7CE-9F15-DA49-36B1-77E177930C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45498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32b9ccab91_0_2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32b9ccab91_0_2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1" name="Google Shape;41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 hasCustomPrompt="1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7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8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3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4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00" name="Google Shape;100;p15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34" name="Google Shape;134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ubTitle" idx="1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grpSp>
        <p:nvGrpSpPr>
          <p:cNvPr id="138" name="Google Shape;138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39" name="Google Shape;139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1" name="Google Shape;141;p20"/>
          <p:cNvSpPr>
            <a:spLocks noGrp="1"/>
          </p:cNvSpPr>
          <p:nvPr>
            <p:ph type="pic" idx="2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47" name="Google Shape;147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/>
          <p:nvPr/>
        </p:nvSpPr>
        <p:spPr>
          <a:xfrm rot="10800000" flipH="1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" name="Google Shape;153;p22"/>
          <p:cNvGrpSpPr/>
          <p:nvPr/>
        </p:nvGrpSpPr>
        <p:grpSpPr>
          <a:xfrm rot="10800000" flipH="1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54" name="Google Shape;154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155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156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3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subTitle" idx="1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ubTitle" idx="2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189" name="Google Shape;189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subTitle" idx="1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subTitle" idx="2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subTitle" idx="3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subTitle" idx="4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subTitle" idx="5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7"/>
          <p:cNvSpPr txBox="1">
            <a:spLocks noGrp="1"/>
          </p:cNvSpPr>
          <p:nvPr>
            <p:ph type="subTitle" idx="6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6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subTitle" idx="1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ubTitle" idx="2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3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4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5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6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subTitle" idx="7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subTitle" idx="8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subTitle" idx="9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ubTitle" idx="13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30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37" name="Google Shape;237;p3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3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8" name="Google Shape;268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1" r:id="rId7"/>
    <p:sldLayoutId id="2147483666" r:id="rId8"/>
    <p:sldLayoutId id="2147483667" r:id="rId9"/>
    <p:sldLayoutId id="2147483668" r:id="rId10"/>
    <p:sldLayoutId id="2147483672" r:id="rId11"/>
    <p:sldLayoutId id="2147483673" r:id="rId12"/>
    <p:sldLayoutId id="2147483676" r:id="rId13"/>
    <p:sldLayoutId id="2147483679" r:id="rId14"/>
    <p:sldLayoutId id="214748368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202540395@gachon.ac.kr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>
            <a:spLocks noGrp="1"/>
          </p:cNvSpPr>
          <p:nvPr>
            <p:ph type="ctrTitle"/>
          </p:nvPr>
        </p:nvSpPr>
        <p:spPr>
          <a:xfrm>
            <a:off x="713225" y="1014550"/>
            <a:ext cx="6134142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dirty="0"/>
              <a:t>SA-86:When Reasoning Collapses: A Depth-Aware Probe into LLM Reasoning(Student Abstract)</a:t>
            </a:r>
            <a:endParaRPr sz="2000" dirty="0"/>
          </a:p>
        </p:txBody>
      </p:sp>
      <p:sp>
        <p:nvSpPr>
          <p:cNvPr id="292" name="Google Shape;292;p41"/>
          <p:cNvSpPr txBox="1">
            <a:spLocks noGrp="1"/>
          </p:cNvSpPr>
          <p:nvPr>
            <p:ph type="subTitle" idx="1"/>
          </p:nvPr>
        </p:nvSpPr>
        <p:spPr>
          <a:xfrm>
            <a:off x="713224" y="3315975"/>
            <a:ext cx="6524003" cy="6648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u="sng" dirty="0" err="1"/>
              <a:t>Azka</a:t>
            </a:r>
            <a:r>
              <a:rPr lang="en-US" b="1" u="sng" dirty="0"/>
              <a:t> Ikramullah¹</a:t>
            </a:r>
            <a:r>
              <a:rPr lang="en-US" dirty="0"/>
              <a:t>, Abdul Majeed², </a:t>
            </a:r>
            <a:r>
              <a:rPr lang="en-US" dirty="0" err="1"/>
              <a:t>Kyunghyun</a:t>
            </a:r>
            <a:r>
              <a:rPr lang="en-US" dirty="0"/>
              <a:t> Lee², Seong </a:t>
            </a:r>
            <a:r>
              <a:rPr lang="en-US" dirty="0" err="1"/>
              <a:t>Oun</a:t>
            </a:r>
            <a:r>
              <a:rPr lang="en-US" dirty="0"/>
              <a:t> Hwang²*</a:t>
            </a:r>
          </a:p>
          <a:p>
            <a:pPr marL="0" indent="0"/>
            <a:r>
              <a:rPr lang="en-US" b="1" dirty="0"/>
              <a:t>Information security &amp; machine learning Lab</a:t>
            </a:r>
          </a:p>
          <a:p>
            <a:pPr marL="0" lvl="0" indent="0"/>
            <a:endParaRPr lang="en-US" dirty="0"/>
          </a:p>
          <a:p>
            <a:pPr marL="0" lvl="0" indent="0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162DD3-25D0-640B-2E1F-E645B87F2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57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9B779F-CF6A-702D-E9CD-39545A849008}"/>
              </a:ext>
            </a:extLst>
          </p:cNvPr>
          <p:cNvSpPr txBox="1"/>
          <p:nvPr/>
        </p:nvSpPr>
        <p:spPr>
          <a:xfrm>
            <a:off x="0" y="4620280"/>
            <a:ext cx="50752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¹ Department of IT Convergence Engineering, </a:t>
            </a:r>
            <a:r>
              <a:rPr lang="en-US" sz="1100" dirty="0" err="1"/>
              <a:t>Gachon</a:t>
            </a:r>
            <a:r>
              <a:rPr lang="en-US" sz="1100" dirty="0"/>
              <a:t> University, South Korea  </a:t>
            </a:r>
          </a:p>
          <a:p>
            <a:r>
              <a:rPr lang="en-US" sz="1100" dirty="0"/>
              <a:t>² Department of Computer Engineering, </a:t>
            </a:r>
            <a:r>
              <a:rPr lang="en-US" sz="1100" dirty="0" err="1"/>
              <a:t>Gachon</a:t>
            </a:r>
            <a:r>
              <a:rPr lang="en-US" sz="1100" dirty="0"/>
              <a:t> University, South Korea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"/>
          <p:cNvSpPr/>
          <p:nvPr/>
        </p:nvSpPr>
        <p:spPr>
          <a:xfrm>
            <a:off x="5045480" y="1451000"/>
            <a:ext cx="852900" cy="369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" name="Google Shape;307;p43"/>
          <p:cNvGrpSpPr/>
          <p:nvPr/>
        </p:nvGrpSpPr>
        <p:grpSpPr>
          <a:xfrm>
            <a:off x="0" y="1451000"/>
            <a:ext cx="4108200" cy="3692400"/>
            <a:chOff x="0" y="1451000"/>
            <a:chExt cx="4108200" cy="3692400"/>
          </a:xfrm>
        </p:grpSpPr>
        <p:sp>
          <p:nvSpPr>
            <p:cNvPr id="308" name="Google Shape;308;p43"/>
            <p:cNvSpPr/>
            <p:nvPr/>
          </p:nvSpPr>
          <p:spPr>
            <a:xfrm>
              <a:off x="1005300" y="1451000"/>
              <a:ext cx="852900" cy="369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9" name="Google Shape;309;p43"/>
            <p:cNvCxnSpPr/>
            <p:nvPr/>
          </p:nvCxnSpPr>
          <p:spPr>
            <a:xfrm>
              <a:off x="0" y="4797575"/>
              <a:ext cx="410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0" name="Google Shape;310;p43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Table of contents</a:t>
            </a:r>
            <a:endParaRPr sz="3100"/>
          </a:p>
        </p:txBody>
      </p:sp>
      <p:sp>
        <p:nvSpPr>
          <p:cNvPr id="311" name="Google Shape;311;p43"/>
          <p:cNvSpPr txBox="1">
            <a:spLocks noGrp="1"/>
          </p:cNvSpPr>
          <p:nvPr>
            <p:ph type="subTitle" idx="1"/>
          </p:nvPr>
        </p:nvSpPr>
        <p:spPr>
          <a:xfrm>
            <a:off x="1936100" y="2129352"/>
            <a:ext cx="2983102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A depth-aware investigation into how LLM reasoning performance collapses as task inference depth increases.</a:t>
            </a:r>
            <a:endParaRPr sz="1200" dirty="0"/>
          </a:p>
        </p:txBody>
      </p:sp>
      <p:sp>
        <p:nvSpPr>
          <p:cNvPr id="312" name="Google Shape;312;p43"/>
          <p:cNvSpPr txBox="1">
            <a:spLocks noGrp="1"/>
          </p:cNvSpPr>
          <p:nvPr>
            <p:ph type="subTitle" idx="2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problem</a:t>
            </a:r>
            <a:endParaRPr/>
          </a:p>
        </p:txBody>
      </p:sp>
      <p:sp>
        <p:nvSpPr>
          <p:cNvPr id="313" name="Google Shape;313;p43"/>
          <p:cNvSpPr txBox="1">
            <a:spLocks noGrp="1"/>
          </p:cNvSpPr>
          <p:nvPr>
            <p:ph type="title" idx="3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4" name="Google Shape;314;p43"/>
          <p:cNvSpPr txBox="1">
            <a:spLocks noGrp="1"/>
          </p:cNvSpPr>
          <p:nvPr>
            <p:ph type="subTitle" idx="4"/>
          </p:nvPr>
        </p:nvSpPr>
        <p:spPr>
          <a:xfrm>
            <a:off x="1936099" y="3827175"/>
            <a:ext cx="2983101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Our evaluation framework pairs direct and reasoning prompts across graded depths and introduces collapse-depth as a robustness metric.</a:t>
            </a:r>
            <a:endParaRPr sz="1200" dirty="0"/>
          </a:p>
        </p:txBody>
      </p:sp>
      <p:sp>
        <p:nvSpPr>
          <p:cNvPr id="315" name="Google Shape;315;p43"/>
          <p:cNvSpPr txBox="1">
            <a:spLocks noGrp="1"/>
          </p:cNvSpPr>
          <p:nvPr>
            <p:ph type="subTitle" idx="5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Framework Overview</a:t>
            </a:r>
            <a:endParaRPr dirty="0"/>
          </a:p>
        </p:txBody>
      </p:sp>
      <p:sp>
        <p:nvSpPr>
          <p:cNvPr id="316" name="Google Shape;316;p43"/>
          <p:cNvSpPr txBox="1">
            <a:spLocks noGrp="1"/>
          </p:cNvSpPr>
          <p:nvPr>
            <p:ph type="title" idx="6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7" name="Google Shape;317;p43"/>
          <p:cNvSpPr txBox="1">
            <a:spLocks noGrp="1"/>
          </p:cNvSpPr>
          <p:nvPr>
            <p:ph type="subTitle" idx="7"/>
          </p:nvPr>
        </p:nvSpPr>
        <p:spPr>
          <a:xfrm>
            <a:off x="5969570" y="2129352"/>
            <a:ext cx="295469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Do reasoning prompts continue to help at deeper reasoning levels, and how does accuracy change across increasing inference depths?</a:t>
            </a:r>
            <a:endParaRPr sz="1200" dirty="0"/>
          </a:p>
        </p:txBody>
      </p:sp>
      <p:sp>
        <p:nvSpPr>
          <p:cNvPr id="318" name="Google Shape;318;p43"/>
          <p:cNvSpPr txBox="1">
            <a:spLocks noGrp="1"/>
          </p:cNvSpPr>
          <p:nvPr>
            <p:ph type="subTitle" idx="8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questions</a:t>
            </a:r>
            <a:endParaRPr dirty="0"/>
          </a:p>
        </p:txBody>
      </p:sp>
      <p:sp>
        <p:nvSpPr>
          <p:cNvPr id="319" name="Google Shape;319;p43"/>
          <p:cNvSpPr txBox="1">
            <a:spLocks noGrp="1"/>
          </p:cNvSpPr>
          <p:nvPr>
            <p:ph type="title" idx="9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1" name="Google Shape;321;p43"/>
          <p:cNvSpPr txBox="1">
            <a:spLocks noGrp="1"/>
          </p:cNvSpPr>
          <p:nvPr>
            <p:ph type="subTitle" idx="14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Experimental Setup</a:t>
            </a:r>
            <a:endParaRPr dirty="0"/>
          </a:p>
        </p:txBody>
      </p:sp>
      <p:sp>
        <p:nvSpPr>
          <p:cNvPr id="322" name="Google Shape;322;p43"/>
          <p:cNvSpPr txBox="1">
            <a:spLocks noGrp="1"/>
          </p:cNvSpPr>
          <p:nvPr>
            <p:ph type="title" idx="15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" name="Google Shape;317;p43">
            <a:extLst>
              <a:ext uri="{FF2B5EF4-FFF2-40B4-BE49-F238E27FC236}">
                <a16:creationId xmlns:a16="http://schemas.microsoft.com/office/drawing/2014/main" id="{71C337C6-CB11-A15D-EE90-A2A8C80A5F8E}"/>
              </a:ext>
            </a:extLst>
          </p:cNvPr>
          <p:cNvSpPr txBox="1">
            <a:spLocks/>
          </p:cNvSpPr>
          <p:nvPr/>
        </p:nvSpPr>
        <p:spPr>
          <a:xfrm>
            <a:off x="6036358" y="3756162"/>
            <a:ext cx="295469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pPr marL="0" indent="0"/>
            <a:r>
              <a:rPr lang="en-US" sz="1200" dirty="0"/>
              <a:t>Evaluation on CLUTRR and </a:t>
            </a:r>
            <a:r>
              <a:rPr lang="en-US" sz="1200" dirty="0" err="1"/>
              <a:t>ProofWriter</a:t>
            </a:r>
            <a:r>
              <a:rPr lang="en-US" sz="1200" dirty="0"/>
              <a:t> using five LLMs, 100 balanced samples per depth, and per-depth accuracy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2778A3E5-8E4C-D963-76A5-84EC28058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">
            <a:extLst>
              <a:ext uri="{FF2B5EF4-FFF2-40B4-BE49-F238E27FC236}">
                <a16:creationId xmlns:a16="http://schemas.microsoft.com/office/drawing/2014/main" id="{195D974A-E6F2-897C-9C02-2213C21D8A1A}"/>
              </a:ext>
            </a:extLst>
          </p:cNvPr>
          <p:cNvSpPr/>
          <p:nvPr/>
        </p:nvSpPr>
        <p:spPr>
          <a:xfrm>
            <a:off x="5045480" y="1451000"/>
            <a:ext cx="852900" cy="369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" name="Google Shape;307;p43">
            <a:extLst>
              <a:ext uri="{FF2B5EF4-FFF2-40B4-BE49-F238E27FC236}">
                <a16:creationId xmlns:a16="http://schemas.microsoft.com/office/drawing/2014/main" id="{65D24B06-B272-2A94-DB2D-5AC1B45A0944}"/>
              </a:ext>
            </a:extLst>
          </p:cNvPr>
          <p:cNvGrpSpPr/>
          <p:nvPr/>
        </p:nvGrpSpPr>
        <p:grpSpPr>
          <a:xfrm>
            <a:off x="0" y="1451000"/>
            <a:ext cx="4108200" cy="3692400"/>
            <a:chOff x="0" y="1451000"/>
            <a:chExt cx="4108200" cy="3692400"/>
          </a:xfrm>
        </p:grpSpPr>
        <p:sp>
          <p:nvSpPr>
            <p:cNvPr id="308" name="Google Shape;308;p43">
              <a:extLst>
                <a:ext uri="{FF2B5EF4-FFF2-40B4-BE49-F238E27FC236}">
                  <a16:creationId xmlns:a16="http://schemas.microsoft.com/office/drawing/2014/main" id="{79D445B9-8DD8-AB43-DF22-A8EF3DE38EA1}"/>
                </a:ext>
              </a:extLst>
            </p:cNvPr>
            <p:cNvSpPr/>
            <p:nvPr/>
          </p:nvSpPr>
          <p:spPr>
            <a:xfrm>
              <a:off x="1005300" y="1451000"/>
              <a:ext cx="852900" cy="369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9" name="Google Shape;309;p43">
              <a:extLst>
                <a:ext uri="{FF2B5EF4-FFF2-40B4-BE49-F238E27FC236}">
                  <a16:creationId xmlns:a16="http://schemas.microsoft.com/office/drawing/2014/main" id="{11FB7F06-D281-B74E-4191-8079F87AE64E}"/>
                </a:ext>
              </a:extLst>
            </p:cNvPr>
            <p:cNvCxnSpPr/>
            <p:nvPr/>
          </p:nvCxnSpPr>
          <p:spPr>
            <a:xfrm>
              <a:off x="0" y="4797575"/>
              <a:ext cx="410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0" name="Google Shape;310;p43">
            <a:extLst>
              <a:ext uri="{FF2B5EF4-FFF2-40B4-BE49-F238E27FC236}">
                <a16:creationId xmlns:a16="http://schemas.microsoft.com/office/drawing/2014/main" id="{3784F5D3-19A5-8AD5-CAA0-CF709D1D10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Table of contents</a:t>
            </a:r>
            <a:endParaRPr sz="3100"/>
          </a:p>
        </p:txBody>
      </p:sp>
      <p:sp>
        <p:nvSpPr>
          <p:cNvPr id="311" name="Google Shape;311;p43">
            <a:extLst>
              <a:ext uri="{FF2B5EF4-FFF2-40B4-BE49-F238E27FC236}">
                <a16:creationId xmlns:a16="http://schemas.microsoft.com/office/drawing/2014/main" id="{FD7C2E5F-17AB-B6C6-B686-3A9898C7D4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36100" y="2129352"/>
            <a:ext cx="289817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Depth-aware evaluation shows shallow reasoning gains but rapid collapse as inference depth increases across all models.</a:t>
            </a:r>
            <a:endParaRPr sz="1200" dirty="0"/>
          </a:p>
        </p:txBody>
      </p:sp>
      <p:sp>
        <p:nvSpPr>
          <p:cNvPr id="312" name="Google Shape;312;p43">
            <a:extLst>
              <a:ext uri="{FF2B5EF4-FFF2-40B4-BE49-F238E27FC236}">
                <a16:creationId xmlns:a16="http://schemas.microsoft.com/office/drawing/2014/main" id="{204239D6-1E77-0B25-8EC4-FD7EFDEBCEF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Key Results</a:t>
            </a:r>
            <a:endParaRPr dirty="0"/>
          </a:p>
        </p:txBody>
      </p:sp>
      <p:sp>
        <p:nvSpPr>
          <p:cNvPr id="313" name="Google Shape;313;p43">
            <a:extLst>
              <a:ext uri="{FF2B5EF4-FFF2-40B4-BE49-F238E27FC236}">
                <a16:creationId xmlns:a16="http://schemas.microsoft.com/office/drawing/2014/main" id="{DB52F9A3-5591-4F67-59D6-08BB01DA24F3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14" name="Google Shape;314;p43">
            <a:extLst>
              <a:ext uri="{FF2B5EF4-FFF2-40B4-BE49-F238E27FC236}">
                <a16:creationId xmlns:a16="http://schemas.microsoft.com/office/drawing/2014/main" id="{773CC617-2B2B-69FE-D021-E94523B6BA1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936099" y="3827175"/>
            <a:ext cx="2898169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Reasoning prompts offer limited benefits and become brittle at deeper levels; collapse depth reveals true robustness.</a:t>
            </a:r>
            <a:endParaRPr sz="1200" dirty="0"/>
          </a:p>
        </p:txBody>
      </p:sp>
      <p:sp>
        <p:nvSpPr>
          <p:cNvPr id="315" name="Google Shape;315;p43">
            <a:extLst>
              <a:ext uri="{FF2B5EF4-FFF2-40B4-BE49-F238E27FC236}">
                <a16:creationId xmlns:a16="http://schemas.microsoft.com/office/drawing/2014/main" id="{577E9286-EA82-F0A9-176D-9378DA5164B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Conclusion</a:t>
            </a:r>
            <a:endParaRPr dirty="0"/>
          </a:p>
        </p:txBody>
      </p:sp>
      <p:sp>
        <p:nvSpPr>
          <p:cNvPr id="316" name="Google Shape;316;p43">
            <a:extLst>
              <a:ext uri="{FF2B5EF4-FFF2-40B4-BE49-F238E27FC236}">
                <a16:creationId xmlns:a16="http://schemas.microsoft.com/office/drawing/2014/main" id="{1BEE5530-61CD-C816-83A2-A139376EC627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317" name="Google Shape;317;p43">
            <a:extLst>
              <a:ext uri="{FF2B5EF4-FFF2-40B4-BE49-F238E27FC236}">
                <a16:creationId xmlns:a16="http://schemas.microsoft.com/office/drawing/2014/main" id="{F2B92159-BDBD-D8B8-8B07-880B306241E4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969569" y="2129352"/>
            <a:ext cx="2805835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Plots illustrating accuracy vs. depth, highlighting where reasoning performance deteriorates relative to direct answers.</a:t>
            </a:r>
            <a:endParaRPr sz="1200" dirty="0"/>
          </a:p>
        </p:txBody>
      </p:sp>
      <p:sp>
        <p:nvSpPr>
          <p:cNvPr id="318" name="Google Shape;318;p43">
            <a:extLst>
              <a:ext uri="{FF2B5EF4-FFF2-40B4-BE49-F238E27FC236}">
                <a16:creationId xmlns:a16="http://schemas.microsoft.com/office/drawing/2014/main" id="{20EC591F-D363-E971-CA79-7264A0FF8B7A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Visual Results (Graphs)</a:t>
            </a:r>
            <a:endParaRPr dirty="0"/>
          </a:p>
        </p:txBody>
      </p:sp>
      <p:sp>
        <p:nvSpPr>
          <p:cNvPr id="319" name="Google Shape;319;p43">
            <a:extLst>
              <a:ext uri="{FF2B5EF4-FFF2-40B4-BE49-F238E27FC236}">
                <a16:creationId xmlns:a16="http://schemas.microsoft.com/office/drawing/2014/main" id="{59C6583A-DCBC-D382-3231-0FE8132D63A0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320" name="Google Shape;320;p43">
            <a:extLst>
              <a:ext uri="{FF2B5EF4-FFF2-40B4-BE49-F238E27FC236}">
                <a16:creationId xmlns:a16="http://schemas.microsoft.com/office/drawing/2014/main" id="{BD774080-FB16-50B4-F9DC-9F4E69CA569E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5969570" y="3827175"/>
            <a:ext cx="2805834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Extend evaluations to broader benchmarks and explore training or architectural methods to mitigate depth-driven collapse.</a:t>
            </a:r>
            <a:endParaRPr sz="1200" dirty="0"/>
          </a:p>
        </p:txBody>
      </p:sp>
      <p:sp>
        <p:nvSpPr>
          <p:cNvPr id="321" name="Google Shape;321;p43">
            <a:extLst>
              <a:ext uri="{FF2B5EF4-FFF2-40B4-BE49-F238E27FC236}">
                <a16:creationId xmlns:a16="http://schemas.microsoft.com/office/drawing/2014/main" id="{72CAC0B0-B6ED-64AD-7019-D3B9813E2670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Future Work</a:t>
            </a:r>
            <a:endParaRPr dirty="0"/>
          </a:p>
        </p:txBody>
      </p:sp>
      <p:sp>
        <p:nvSpPr>
          <p:cNvPr id="322" name="Google Shape;322;p43">
            <a:extLst>
              <a:ext uri="{FF2B5EF4-FFF2-40B4-BE49-F238E27FC236}">
                <a16:creationId xmlns:a16="http://schemas.microsoft.com/office/drawing/2014/main" id="{D1FD563D-4C8A-12F8-7ABC-CC872510099B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9497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/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338" name="Google Shape;338;p45"/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39" name="Google Shape;339;p45"/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5391994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dirty="0"/>
              <a:t>A depth-aware investigation into how LLM reasoning performance collapses as task inference depth increases.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>
            <a:spLocks noGrp="1"/>
          </p:cNvSpPr>
          <p:nvPr>
            <p:ph type="subTitle" idx="1"/>
          </p:nvPr>
        </p:nvSpPr>
        <p:spPr>
          <a:xfrm>
            <a:off x="907311" y="715926"/>
            <a:ext cx="8009861" cy="36008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/>
            <a:r>
              <a:rPr lang="en-US" sz="1500" b="1" dirty="0"/>
              <a:t>The Problem</a:t>
            </a:r>
          </a:p>
          <a:p>
            <a:pPr marL="139700" indent="0" algn="l"/>
            <a:r>
              <a:rPr lang="en-US" sz="1500" dirty="0"/>
              <a:t>	Large Language Models (LLMs) often appear to reason well on </a:t>
            </a:r>
            <a:r>
              <a:rPr lang="en-US" sz="1500" i="1" dirty="0"/>
              <a:t>shallow</a:t>
            </a:r>
            <a:r>
              <a:rPr lang="en-US" sz="1500" dirty="0"/>
              <a:t> tasks.</a:t>
            </a:r>
          </a:p>
          <a:p>
            <a:pPr marL="596900" lvl="1" indent="0"/>
            <a:r>
              <a:rPr lang="en-US" sz="1500" dirty="0"/>
              <a:t>	However, their reasoning performance becomes unstable or collapses as 	</a:t>
            </a:r>
            <a:r>
              <a:rPr lang="en-US" sz="1500" b="1" dirty="0"/>
              <a:t>reasoning depth</a:t>
            </a:r>
            <a:r>
              <a:rPr lang="en-US" sz="1500" dirty="0"/>
              <a:t> increases.</a:t>
            </a:r>
          </a:p>
          <a:p>
            <a:pPr marL="139700" indent="0" algn="l"/>
            <a:r>
              <a:rPr lang="en-US" sz="1500" b="1" dirty="0"/>
              <a:t>Why This Is a Problem</a:t>
            </a:r>
          </a:p>
          <a:p>
            <a:pPr marL="139700" indent="0" algn="l"/>
            <a:r>
              <a:rPr lang="en-US" sz="1500" dirty="0"/>
              <a:t>	Real tasks require </a:t>
            </a:r>
            <a:r>
              <a:rPr lang="en-US" sz="1500" b="1" dirty="0"/>
              <a:t>multi-step inference</a:t>
            </a:r>
            <a:r>
              <a:rPr lang="en-US" sz="1500" dirty="0"/>
              <a:t>, not just surface-level reasoning.</a:t>
            </a:r>
          </a:p>
          <a:p>
            <a:pPr marL="596900" lvl="1" indent="0"/>
            <a:r>
              <a:rPr lang="en-US" sz="1500" dirty="0"/>
              <a:t>	Chain-of-thought prompting gives an </a:t>
            </a:r>
            <a:r>
              <a:rPr lang="en-US" sz="1500" i="1" dirty="0"/>
              <a:t>illusion</a:t>
            </a:r>
            <a:r>
              <a:rPr lang="en-US" sz="1500" dirty="0"/>
              <a:t> of reasoning and fails on complex 	tasks.</a:t>
            </a:r>
          </a:p>
          <a:p>
            <a:pPr marL="139700" indent="0" algn="l"/>
            <a:r>
              <a:rPr lang="en-US" sz="1500" dirty="0"/>
              <a:t>	Current benchmarks </a:t>
            </a:r>
            <a:r>
              <a:rPr lang="en-US" sz="1500" b="1" dirty="0"/>
              <a:t>do not evaluate depth</a:t>
            </a:r>
            <a:r>
              <a:rPr lang="en-US" sz="1500" dirty="0"/>
              <a:t>, hiding these weaknesses.</a:t>
            </a:r>
          </a:p>
          <a:p>
            <a:pPr marL="139700" indent="0" algn="l"/>
            <a:r>
              <a:rPr lang="en-US" sz="1500" b="1" dirty="0"/>
              <a:t>The Gap</a:t>
            </a:r>
          </a:p>
          <a:p>
            <a:pPr marL="139700" indent="0" algn="l"/>
            <a:r>
              <a:rPr lang="en-US" sz="1500" b="1" dirty="0"/>
              <a:t>	</a:t>
            </a:r>
            <a:r>
              <a:rPr lang="en-US" sz="1500" dirty="0"/>
              <a:t>We lack a systematic way to measure </a:t>
            </a:r>
            <a:r>
              <a:rPr lang="en-US" sz="1500" b="1" dirty="0"/>
              <a:t>how reasoning breaks</a:t>
            </a:r>
            <a:r>
              <a:rPr lang="en-US" sz="1500" dirty="0"/>
              <a:t> as tasks become 	deeper and more complex.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C4DE4017-5D40-AFF1-F513-5EEB0FD53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7826BDC1-419E-EABD-B731-B8E66A4D63E4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D713A751-C985-05EF-14CD-581B975813B4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AE35CC31-6DFB-6350-A2C0-9CCD583ED1C8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E32B04B1-8068-BC44-EBD2-0DEB9766D8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Research questions</a:t>
            </a:r>
          </a:p>
        </p:txBody>
      </p:sp>
      <p:sp>
        <p:nvSpPr>
          <p:cNvPr id="338" name="Google Shape;338;p45">
            <a:extLst>
              <a:ext uri="{FF2B5EF4-FFF2-40B4-BE49-F238E27FC236}">
                <a16:creationId xmlns:a16="http://schemas.microsoft.com/office/drawing/2014/main" id="{FFF4D451-06D6-0E61-9DD4-A017C48552E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39" name="Google Shape;339;p45">
            <a:extLst>
              <a:ext uri="{FF2B5EF4-FFF2-40B4-BE49-F238E27FC236}">
                <a16:creationId xmlns:a16="http://schemas.microsoft.com/office/drawing/2014/main" id="{C4F84CB5-0503-0CE5-3F78-1D680B7EB73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6263862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dirty="0"/>
              <a:t>Do reasoning prompts continue to help at deeper reasoning levels, and how does accuracy change across increasing inference depths?</a:t>
            </a:r>
          </a:p>
        </p:txBody>
      </p:sp>
    </p:spTree>
    <p:extLst>
      <p:ext uri="{BB962C8B-B14F-4D97-AF65-F5344CB8AC3E}">
        <p14:creationId xmlns:p14="http://schemas.microsoft.com/office/powerpoint/2010/main" val="3753770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8FB78D10-3C8C-EBAA-03C1-AFB96351D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0F459A8D-5C49-0F9D-6B2D-2D7D7EE265E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07311" y="715926"/>
            <a:ext cx="8009861" cy="36008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/>
            <a:r>
              <a:rPr lang="en-US" sz="1500" b="1" dirty="0"/>
              <a:t>RQ1 — Do reasoning prompts actually help as reasoning depth increases?</a:t>
            </a:r>
          </a:p>
          <a:p>
            <a:pPr marL="139700" indent="0" algn="just"/>
            <a:r>
              <a:rPr lang="en-US" sz="1500" dirty="0"/>
              <a:t>	Do chain-of-thought prompts improve accuracy only at shallow depths, or can 	they sustain performance in deeper multi-step inference tasks?</a:t>
            </a:r>
          </a:p>
          <a:p>
            <a:pPr marL="139700" indent="0" algn="just"/>
            <a:r>
              <a:rPr lang="en-US" sz="1500" b="1" dirty="0"/>
              <a:t>RQ2 — How does model accuracy change across controlled reasoning depths?</a:t>
            </a:r>
          </a:p>
          <a:p>
            <a:pPr marL="139700" indent="0" algn="just"/>
            <a:r>
              <a:rPr lang="en-US" sz="1500" dirty="0"/>
              <a:t>	How do different LLMs behave when inference depth increases from simple to 	complex reasoning chains?</a:t>
            </a:r>
          </a:p>
          <a:p>
            <a:pPr marL="139700" indent="0" algn="just"/>
            <a:r>
              <a:rPr lang="en-US" sz="1500" b="1" dirty="0"/>
              <a:t>RQ3 — When and where does reasoning collapse occur?</a:t>
            </a:r>
          </a:p>
          <a:p>
            <a:pPr marL="139700" indent="0" algn="just"/>
            <a:r>
              <a:rPr lang="en-US" sz="1500" dirty="0"/>
              <a:t>	At what reasoning depth do models fall below a minimally useful accuracy 	threshold (collapse depth)?</a:t>
            </a:r>
          </a:p>
          <a:p>
            <a:pPr marL="139700" indent="0" algn="just"/>
            <a:r>
              <a:rPr lang="en-US" sz="1500" b="1" dirty="0"/>
              <a:t>RQ4 — Do open-source and closed-source models show different depth-driven failure patterns?</a:t>
            </a:r>
          </a:p>
          <a:p>
            <a:pPr marL="139700" indent="0" algn="just"/>
            <a:r>
              <a:rPr lang="en-US" sz="1500" dirty="0"/>
              <a:t>	How do models like GPT-5 compare with </a:t>
            </a:r>
            <a:r>
              <a:rPr lang="en-US" sz="1500" dirty="0" err="1"/>
              <a:t>LLaMA</a:t>
            </a:r>
            <a:r>
              <a:rPr lang="en-US" sz="1500" dirty="0"/>
              <a:t>, Qwen, DeepSeek, and GLM 	under deep reasoning?</a:t>
            </a:r>
          </a:p>
        </p:txBody>
      </p:sp>
    </p:spTree>
    <p:extLst>
      <p:ext uri="{BB962C8B-B14F-4D97-AF65-F5344CB8AC3E}">
        <p14:creationId xmlns:p14="http://schemas.microsoft.com/office/powerpoint/2010/main" val="335996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>
            <a:spLocks noGrp="1"/>
          </p:cNvSpPr>
          <p:nvPr>
            <p:ph type="title"/>
          </p:nvPr>
        </p:nvSpPr>
        <p:spPr>
          <a:xfrm>
            <a:off x="713250" y="59524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351" name="Google Shape;351;p47"/>
          <p:cNvSpPr txBox="1">
            <a:spLocks noGrp="1"/>
          </p:cNvSpPr>
          <p:nvPr>
            <p:ph type="subTitle" idx="1"/>
          </p:nvPr>
        </p:nvSpPr>
        <p:spPr>
          <a:xfrm>
            <a:off x="163031" y="623601"/>
            <a:ext cx="4536559" cy="25047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b="1" dirty="0"/>
              <a:t>LLM Reasoning &amp; Chain-of-Thought (</a:t>
            </a:r>
            <a:r>
              <a:rPr lang="en-US" sz="1200" b="1" dirty="0" err="1"/>
              <a:t>CoT</a:t>
            </a:r>
            <a:r>
              <a:rPr lang="en-US" sz="1200" b="1" dirty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dirty="0" err="1"/>
              <a:t>CoT</a:t>
            </a:r>
            <a:r>
              <a:rPr lang="en-US" sz="1200" b="1" dirty="0"/>
              <a:t> prompting</a:t>
            </a:r>
            <a:r>
              <a:rPr lang="en-US" sz="1200" dirty="0"/>
              <a:t> improves performance on </a:t>
            </a:r>
            <a:r>
              <a:rPr lang="en-US" sz="1200" b="1" dirty="0"/>
              <a:t>shallow reasoning</a:t>
            </a:r>
            <a:r>
              <a:rPr lang="en-US" sz="1200" dirty="0"/>
              <a:t> tasks by explaining intermediate steps.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Studies (Wei et al., 2022) suggest it enhances LLMs’ </a:t>
            </a:r>
            <a:r>
              <a:rPr lang="en-US" sz="1200" b="1" dirty="0"/>
              <a:t>accuracy</a:t>
            </a:r>
            <a:r>
              <a:rPr lang="en-US" sz="1200" dirty="0"/>
              <a:t> for simple tasks.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dirty="0"/>
              <a:t>Recent evidence</a:t>
            </a:r>
            <a:r>
              <a:rPr lang="en-US" sz="1200" dirty="0"/>
              <a:t> shows these improvements may stem from </a:t>
            </a:r>
            <a:r>
              <a:rPr lang="en-US" sz="1200" b="1" dirty="0"/>
              <a:t>pattern exposure</a:t>
            </a:r>
            <a:r>
              <a:rPr lang="en-US" sz="1200" dirty="0"/>
              <a:t>, not genuine multi-step reasoning.</a:t>
            </a:r>
          </a:p>
          <a:p>
            <a:pPr algn="l"/>
            <a:r>
              <a:rPr lang="en-US" sz="1200" b="1" dirty="0"/>
              <a:t>Illusion of Reasoning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 err="1"/>
              <a:t>Shojaee</a:t>
            </a:r>
            <a:r>
              <a:rPr lang="en-US" sz="1200" dirty="0"/>
              <a:t> et al. (2025) demonstrated that LLMs often produce an </a:t>
            </a:r>
            <a:r>
              <a:rPr lang="en-US" sz="1200" b="1" dirty="0"/>
              <a:t>illusion of reasoning</a:t>
            </a:r>
            <a:r>
              <a:rPr lang="en-US" sz="1200" dirty="0"/>
              <a:t>, failing on more complex tasks.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Despite longer explanations, LLMs still </a:t>
            </a:r>
            <a:r>
              <a:rPr lang="en-US" sz="1200" b="1" dirty="0"/>
              <a:t>reinforce systematic logical errors</a:t>
            </a:r>
            <a:r>
              <a:rPr lang="en-US" sz="12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dirty="0" err="1"/>
              <a:t>CoT</a:t>
            </a:r>
            <a:r>
              <a:rPr lang="en-US" sz="1200" b="1" dirty="0"/>
              <a:t> is fragile</a:t>
            </a:r>
            <a:r>
              <a:rPr lang="en-US" sz="1200" dirty="0"/>
              <a:t> and </a:t>
            </a:r>
            <a:r>
              <a:rPr lang="en-US" sz="1200" b="1" dirty="0"/>
              <a:t>collapses under deep inference</a:t>
            </a:r>
            <a:r>
              <a:rPr lang="en-US" sz="1200" dirty="0"/>
              <a:t> due to inherent weaknesses in handling complexity.</a:t>
            </a:r>
          </a:p>
        </p:txBody>
      </p:sp>
      <p:sp>
        <p:nvSpPr>
          <p:cNvPr id="352" name="Google Shape;352;p47"/>
          <p:cNvSpPr txBox="1">
            <a:spLocks noGrp="1"/>
          </p:cNvSpPr>
          <p:nvPr>
            <p:ph type="subTitle" idx="2"/>
          </p:nvPr>
        </p:nvSpPr>
        <p:spPr>
          <a:xfrm>
            <a:off x="4572000" y="744279"/>
            <a:ext cx="4189228" cy="25047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b="1" dirty="0"/>
              <a:t>Lack of Depth-Aware Evaluation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Existing benchmarks evaluate tasks with </a:t>
            </a:r>
            <a:r>
              <a:rPr lang="en-US" sz="1200" b="1" dirty="0"/>
              <a:t>low reasoning depth</a:t>
            </a:r>
            <a:r>
              <a:rPr lang="en-US" sz="1200" dirty="0"/>
              <a:t>, masking deeper brittleness.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Depth — defined as the </a:t>
            </a:r>
            <a:r>
              <a:rPr lang="en-US" sz="1200" b="1" dirty="0"/>
              <a:t>number of inference steps</a:t>
            </a:r>
            <a:r>
              <a:rPr lang="en-US" sz="1200" dirty="0"/>
              <a:t> required — is rarely controlled or measured.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No existing framework evaluates </a:t>
            </a:r>
            <a:r>
              <a:rPr lang="en-US" sz="1200" b="1" dirty="0"/>
              <a:t>direct vs. reasoning prompts</a:t>
            </a:r>
            <a:r>
              <a:rPr lang="en-US" sz="1200" dirty="0"/>
              <a:t> </a:t>
            </a:r>
            <a:r>
              <a:rPr lang="en-US" sz="1200" i="1" dirty="0"/>
              <a:t>across increasing depths</a:t>
            </a:r>
            <a:r>
              <a:rPr lang="en-US" sz="1200" dirty="0"/>
              <a:t>.</a:t>
            </a:r>
          </a:p>
          <a:p>
            <a:pPr algn="l"/>
            <a:r>
              <a:rPr lang="en-US" sz="1200" b="1" dirty="0"/>
              <a:t>Why Depth Matters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Real-world reasoning (logical proofs, relational inference, planning) requires </a:t>
            </a:r>
            <a:r>
              <a:rPr lang="en-US" sz="1200" b="1" dirty="0"/>
              <a:t>multi-step, compositional inferences</a:t>
            </a:r>
            <a:r>
              <a:rPr lang="en-US" sz="12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Without depth-aware evaluation, LLMs may appear strong on “easy” datasets while failing abruptly on harder compositions.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4CA9E343-29A2-A517-B6FE-625092C8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EC46DD5B-7C51-F56F-E7A2-F9996BB2919A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61C400D1-DBA7-90AA-2EDB-DADF77F0FC84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5D59F4A1-AB4D-6011-7D7E-7906D1D5C7A3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2DDF972B-A86C-F841-1C7B-AA97EB01B4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Framework Overview</a:t>
            </a:r>
          </a:p>
        </p:txBody>
      </p:sp>
      <p:sp>
        <p:nvSpPr>
          <p:cNvPr id="338" name="Google Shape;338;p45">
            <a:extLst>
              <a:ext uri="{FF2B5EF4-FFF2-40B4-BE49-F238E27FC236}">
                <a16:creationId xmlns:a16="http://schemas.microsoft.com/office/drawing/2014/main" id="{5C05BDB3-8E40-456C-B802-8A5C3187EAC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39" name="Google Shape;339;p45">
            <a:extLst>
              <a:ext uri="{FF2B5EF4-FFF2-40B4-BE49-F238E27FC236}">
                <a16:creationId xmlns:a16="http://schemas.microsoft.com/office/drawing/2014/main" id="{B9A48FD0-2D34-6A9E-F3C5-EB94CD8175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6618284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dirty="0"/>
              <a:t>Our evaluation framework pairs direct and reasoning prompts across graded depths and introduces collapse-depth as a robustness metric.</a:t>
            </a:r>
          </a:p>
        </p:txBody>
      </p:sp>
    </p:spTree>
    <p:extLst>
      <p:ext uri="{BB962C8B-B14F-4D97-AF65-F5344CB8AC3E}">
        <p14:creationId xmlns:p14="http://schemas.microsoft.com/office/powerpoint/2010/main" val="8264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F94205-BC8D-7430-C4F9-A4DBCFD98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646" y="689376"/>
            <a:ext cx="4863300" cy="803700"/>
          </a:xfrm>
        </p:spPr>
        <p:txBody>
          <a:bodyPr/>
          <a:lstStyle/>
          <a:p>
            <a:r>
              <a:rPr lang="en-US" dirty="0"/>
              <a:t>Evaluation Framework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6EE1320-2A38-C36C-4AE3-B4E953D021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13219" y="1957164"/>
            <a:ext cx="7317561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vs. Reasoning Prompts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Our framework compares models using both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prompts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(final answer only) and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 prompts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(with intermediate steps) at various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inference depths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Collapse Depth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We introduce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collapse depth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a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assess where reasoning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This is the depth at which accuracy falls below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50%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marking the collapse of reasoning capacity.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Controlled Depth Sampling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We evaluate across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graded depths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models are tested with an increasing number of inference steps to simulate complex tasks.</a:t>
            </a:r>
          </a:p>
        </p:txBody>
      </p:sp>
    </p:spTree>
    <p:extLst>
      <p:ext uri="{BB962C8B-B14F-4D97-AF65-F5344CB8AC3E}">
        <p14:creationId xmlns:p14="http://schemas.microsoft.com/office/powerpoint/2010/main" val="422487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847A0F-080A-A0E9-9572-27E4A55FB711}"/>
              </a:ext>
            </a:extLst>
          </p:cNvPr>
          <p:cNvSpPr txBox="1"/>
          <p:nvPr/>
        </p:nvSpPr>
        <p:spPr>
          <a:xfrm>
            <a:off x="971107" y="4149630"/>
            <a:ext cx="76554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</a:t>
            </a:r>
            <a:r>
              <a:rPr lang="en-US" dirty="0"/>
              <a:t>: Evaluation framework that compares direct and reasoning prompts across controlled depths, tracking accuracy and introducing collapse depth as the robustness indicator.</a:t>
            </a:r>
          </a:p>
        </p:txBody>
      </p:sp>
      <p:pic>
        <p:nvPicPr>
          <p:cNvPr id="11" name="Picture 10" descr="A diagram of a computer&#10;&#10;AI-generated content may be incorrect.">
            <a:extLst>
              <a:ext uri="{FF2B5EF4-FFF2-40B4-BE49-F238E27FC236}">
                <a16:creationId xmlns:a16="http://schemas.microsoft.com/office/drawing/2014/main" id="{B07DED8D-D899-4D41-DD63-EA2A990F2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7" y="1587795"/>
            <a:ext cx="8484781" cy="233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96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50"/>
          <p:cNvGrpSpPr/>
          <p:nvPr/>
        </p:nvGrpSpPr>
        <p:grpSpPr>
          <a:xfrm>
            <a:off x="6670200" y="0"/>
            <a:ext cx="2473800" cy="4131000"/>
            <a:chOff x="6670200" y="0"/>
            <a:chExt cx="2473800" cy="4131000"/>
          </a:xfrm>
        </p:grpSpPr>
        <p:sp>
          <p:nvSpPr>
            <p:cNvPr id="398" name="Google Shape;398;p50"/>
            <p:cNvSpPr/>
            <p:nvPr/>
          </p:nvSpPr>
          <p:spPr>
            <a:xfrm flipH="1">
              <a:off x="667020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9" name="Google Shape;399;p50"/>
            <p:cNvCxnSpPr/>
            <p:nvPr/>
          </p:nvCxnSpPr>
          <p:spPr>
            <a:xfrm rot="10800000">
              <a:off x="84327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0" name="Google Shape;400;p50"/>
          <p:cNvSpPr txBox="1">
            <a:spLocks noGrp="1"/>
          </p:cNvSpPr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Experimental Setup</a:t>
            </a:r>
          </a:p>
        </p:txBody>
      </p:sp>
      <p:sp>
        <p:nvSpPr>
          <p:cNvPr id="401" name="Google Shape;401;p50"/>
          <p:cNvSpPr txBox="1">
            <a:spLocks noGrp="1"/>
          </p:cNvSpPr>
          <p:nvPr>
            <p:ph type="title" idx="2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02" name="Google Shape;402;p50"/>
          <p:cNvSpPr txBox="1">
            <a:spLocks noGrp="1"/>
          </p:cNvSpPr>
          <p:nvPr>
            <p:ph type="subTitle" idx="1"/>
          </p:nvPr>
        </p:nvSpPr>
        <p:spPr>
          <a:xfrm flipH="1">
            <a:off x="1637420" y="3040984"/>
            <a:ext cx="5994505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dirty="0"/>
              <a:t>Evaluation on CLUTRR and </a:t>
            </a:r>
            <a:r>
              <a:rPr lang="en-US" dirty="0" err="1"/>
              <a:t>ProofWriter</a:t>
            </a:r>
            <a:r>
              <a:rPr lang="en-US" dirty="0"/>
              <a:t> using five LLMs, 100 balanced samples per depth, and per-depth accuracy comparison.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8"/>
          <p:cNvSpPr txBox="1">
            <a:spLocks noGrp="1"/>
          </p:cNvSpPr>
          <p:nvPr>
            <p:ph type="body" idx="1"/>
          </p:nvPr>
        </p:nvSpPr>
        <p:spPr>
          <a:xfrm>
            <a:off x="893135" y="477828"/>
            <a:ext cx="7662530" cy="4187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b="1" dirty="0"/>
              <a:t>Datasets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b="1" dirty="0"/>
              <a:t>CLUTRR</a:t>
            </a:r>
            <a:r>
              <a:rPr lang="en-US" dirty="0"/>
              <a:t> (Kinship Reasoning): Depths 2–6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b="1" dirty="0" err="1"/>
              <a:t>ProofWriter</a:t>
            </a:r>
            <a:r>
              <a:rPr lang="en-US" dirty="0"/>
              <a:t> (Logical Entailment): Depths 1–5</a:t>
            </a:r>
          </a:p>
          <a:p>
            <a:pPr marL="139700" indent="0">
              <a:buNone/>
            </a:pPr>
            <a:r>
              <a:rPr lang="en-US" b="1" dirty="0"/>
              <a:t>Models Evaluated</a:t>
            </a:r>
          </a:p>
          <a:p>
            <a:pPr marL="139700" indent="0">
              <a:buNone/>
            </a:pPr>
            <a:r>
              <a:rPr lang="en-US" b="1" dirty="0"/>
              <a:t>	Closed-source:</a:t>
            </a:r>
            <a:r>
              <a:rPr lang="en-US" dirty="0"/>
              <a:t> GPT-5</a:t>
            </a:r>
          </a:p>
          <a:p>
            <a:pPr marL="139700" indent="0">
              <a:buNone/>
            </a:pPr>
            <a:r>
              <a:rPr lang="en-US" b="1" dirty="0"/>
              <a:t>	Open-source:</a:t>
            </a:r>
          </a:p>
          <a:p>
            <a:pPr marL="139700" indent="0">
              <a:buNone/>
            </a:pPr>
            <a:r>
              <a:rPr lang="en-US" b="1" dirty="0"/>
              <a:t>		</a:t>
            </a:r>
            <a:r>
              <a:rPr lang="en-US" dirty="0"/>
              <a:t>LLaMA-3.1-8B</a:t>
            </a:r>
          </a:p>
          <a:p>
            <a:pPr marL="139700" indent="0">
              <a:buNone/>
            </a:pPr>
            <a:r>
              <a:rPr lang="en-US" dirty="0"/>
              <a:t>		Qwen-2.5-7B</a:t>
            </a:r>
          </a:p>
          <a:p>
            <a:pPr marL="139700" indent="0">
              <a:buNone/>
            </a:pPr>
            <a:r>
              <a:rPr lang="en-US" dirty="0"/>
              <a:t>		DeepSeek-32B</a:t>
            </a:r>
          </a:p>
          <a:p>
            <a:pPr marL="139700" indent="0">
              <a:buNone/>
            </a:pPr>
            <a:r>
              <a:rPr lang="en-US" dirty="0"/>
              <a:t>		GLM-4.5-Air</a:t>
            </a:r>
          </a:p>
          <a:p>
            <a:pPr marL="139700" indent="0">
              <a:buNone/>
            </a:pPr>
            <a:r>
              <a:rPr lang="en-US" b="1" dirty="0"/>
              <a:t>Evaluation Methodology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100 balanced items per depth</a:t>
            </a:r>
            <a:r>
              <a:rPr lang="en-US" dirty="0"/>
              <a:t> for each dataset.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Comparison</a:t>
            </a:r>
            <a:r>
              <a:rPr lang="en-US" dirty="0"/>
              <a:t>: Direct prompts (final answer) vs. Reasoning prompts (intermediate steps).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Metrics:</a:t>
            </a:r>
            <a:r>
              <a:rPr lang="en-US" dirty="0"/>
              <a:t> Accuracy at each depth, </a:t>
            </a:r>
            <a:r>
              <a:rPr lang="en-US" b="1" dirty="0"/>
              <a:t>collapse depth</a:t>
            </a:r>
            <a:r>
              <a:rPr lang="en-US" dirty="0"/>
              <a:t> (where performance drops below 50%).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20070781-CD6C-A2E4-40ED-E1E52DB61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C367A807-C09A-BBE9-C0E9-BE15F9084E14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F2A39283-D25A-C96E-9ADD-0F6CDBAAA085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88E51230-9EE1-E431-FAB8-9C13C0804CD6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3F62798D-ED70-5111-6DE8-B9D98A4C9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Key Results </a:t>
            </a:r>
          </a:p>
        </p:txBody>
      </p:sp>
      <p:sp>
        <p:nvSpPr>
          <p:cNvPr id="338" name="Google Shape;338;p45">
            <a:extLst>
              <a:ext uri="{FF2B5EF4-FFF2-40B4-BE49-F238E27FC236}">
                <a16:creationId xmlns:a16="http://schemas.microsoft.com/office/drawing/2014/main" id="{C68A6EC5-9137-5B1B-8C21-CD69A8C3FA3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39" name="Google Shape;339;p45">
            <a:extLst>
              <a:ext uri="{FF2B5EF4-FFF2-40B4-BE49-F238E27FC236}">
                <a16:creationId xmlns:a16="http://schemas.microsoft.com/office/drawing/2014/main" id="{92865697-7D2A-0A91-4DAB-180BB7FA050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6618284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dirty="0"/>
              <a:t>Depth-aware evaluation shows shallow reasoning gains but rapid collapse as inference depth increases across all models.</a:t>
            </a:r>
          </a:p>
        </p:txBody>
      </p:sp>
    </p:spTree>
    <p:extLst>
      <p:ext uri="{BB962C8B-B14F-4D97-AF65-F5344CB8AC3E}">
        <p14:creationId xmlns:p14="http://schemas.microsoft.com/office/powerpoint/2010/main" val="4158642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D95D1E4-274B-50FB-6C9B-EA2612708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030064"/>
              </p:ext>
            </p:extLst>
          </p:nvPr>
        </p:nvGraphicFramePr>
        <p:xfrm>
          <a:off x="389860" y="425302"/>
          <a:ext cx="8683256" cy="406872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23208">
                  <a:extLst>
                    <a:ext uri="{9D8B030D-6E8A-4147-A177-3AD203B41FA5}">
                      <a16:colId xmlns:a16="http://schemas.microsoft.com/office/drawing/2014/main" val="3823513724"/>
                    </a:ext>
                  </a:extLst>
                </a:gridCol>
                <a:gridCol w="1047606">
                  <a:extLst>
                    <a:ext uri="{9D8B030D-6E8A-4147-A177-3AD203B41FA5}">
                      <a16:colId xmlns:a16="http://schemas.microsoft.com/office/drawing/2014/main" val="4159797189"/>
                    </a:ext>
                  </a:extLst>
                </a:gridCol>
                <a:gridCol w="1085407">
                  <a:extLst>
                    <a:ext uri="{9D8B030D-6E8A-4147-A177-3AD203B41FA5}">
                      <a16:colId xmlns:a16="http://schemas.microsoft.com/office/drawing/2014/main" val="1641221671"/>
                    </a:ext>
                  </a:extLst>
                </a:gridCol>
                <a:gridCol w="1085407">
                  <a:extLst>
                    <a:ext uri="{9D8B030D-6E8A-4147-A177-3AD203B41FA5}">
                      <a16:colId xmlns:a16="http://schemas.microsoft.com/office/drawing/2014/main" val="3561580672"/>
                    </a:ext>
                  </a:extLst>
                </a:gridCol>
                <a:gridCol w="1085407">
                  <a:extLst>
                    <a:ext uri="{9D8B030D-6E8A-4147-A177-3AD203B41FA5}">
                      <a16:colId xmlns:a16="http://schemas.microsoft.com/office/drawing/2014/main" val="4099170089"/>
                    </a:ext>
                  </a:extLst>
                </a:gridCol>
                <a:gridCol w="1085407">
                  <a:extLst>
                    <a:ext uri="{9D8B030D-6E8A-4147-A177-3AD203B41FA5}">
                      <a16:colId xmlns:a16="http://schemas.microsoft.com/office/drawing/2014/main" val="2914783855"/>
                    </a:ext>
                  </a:extLst>
                </a:gridCol>
                <a:gridCol w="1085407">
                  <a:extLst>
                    <a:ext uri="{9D8B030D-6E8A-4147-A177-3AD203B41FA5}">
                      <a16:colId xmlns:a16="http://schemas.microsoft.com/office/drawing/2014/main" val="2107014581"/>
                    </a:ext>
                  </a:extLst>
                </a:gridCol>
                <a:gridCol w="1085407">
                  <a:extLst>
                    <a:ext uri="{9D8B030D-6E8A-4147-A177-3AD203B41FA5}">
                      <a16:colId xmlns:a16="http://schemas.microsoft.com/office/drawing/2014/main" val="2568778874"/>
                    </a:ext>
                  </a:extLst>
                </a:gridCol>
              </a:tblGrid>
              <a:tr h="896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Model</a:t>
                      </a:r>
                      <a:endParaRPr lang="en-US" sz="140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Best Dir/Rea (PW)</a:t>
                      </a:r>
                      <a:endParaRPr lang="en-US" sz="140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Best Gain (CL)</a:t>
                      </a:r>
                      <a:endParaRPr lang="en-US" sz="140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Coll. (CL/PW)</a:t>
                      </a:r>
                      <a:endParaRPr lang="en-US" sz="140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d2</a:t>
                      </a:r>
                      <a:endParaRPr lang="en-US" sz="1400" dirty="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d3</a:t>
                      </a:r>
                      <a:endParaRPr lang="en-US" sz="140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d4</a:t>
                      </a:r>
                      <a:endParaRPr lang="en-US" sz="140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d5</a:t>
                      </a:r>
                      <a:endParaRPr lang="en-US" sz="1400"/>
                    </a:p>
                  </a:txBody>
                  <a:tcPr marL="90051" marR="90051" marT="45025" marB="45025" anchor="ctr"/>
                </a:tc>
                <a:extLst>
                  <a:ext uri="{0D108BD9-81ED-4DB2-BD59-A6C34878D82A}">
                    <a16:rowId xmlns:a16="http://schemas.microsoft.com/office/drawing/2014/main" val="3348853811"/>
                  </a:ext>
                </a:extLst>
              </a:tr>
              <a:tr h="634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GPT-5</a:t>
                      </a:r>
                      <a:endParaRPr lang="en-US" sz="140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90/0% @ d4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+10% @ d2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2/1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60/20/+10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80/10/-10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90/0/-10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80/0/-10</a:t>
                      </a:r>
                    </a:p>
                  </a:txBody>
                  <a:tcPr marL="90051" marR="90051" marT="45025" marB="45025" anchor="ctr"/>
                </a:tc>
                <a:extLst>
                  <a:ext uri="{0D108BD9-81ED-4DB2-BD59-A6C34878D82A}">
                    <a16:rowId xmlns:a16="http://schemas.microsoft.com/office/drawing/2014/main" val="2824765716"/>
                  </a:ext>
                </a:extLst>
              </a:tr>
              <a:tr h="634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LLaMA-3.1-8B</a:t>
                      </a:r>
                      <a:endParaRPr lang="en-US" sz="1400" dirty="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60/50% @ d5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+10% @ d2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2/2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20/20/+10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50/50/0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40/50/0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60/50/0</a:t>
                      </a:r>
                    </a:p>
                  </a:txBody>
                  <a:tcPr marL="90051" marR="90051" marT="45025" marB="45025" anchor="ctr"/>
                </a:tc>
                <a:extLst>
                  <a:ext uri="{0D108BD9-81ED-4DB2-BD59-A6C34878D82A}">
                    <a16:rowId xmlns:a16="http://schemas.microsoft.com/office/drawing/2014/main" val="4023090795"/>
                  </a:ext>
                </a:extLst>
              </a:tr>
              <a:tr h="634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Qwen-2.5-7B</a:t>
                      </a:r>
                      <a:endParaRPr lang="en-US" sz="140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60/50% @ d5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+20% @ d4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2/1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30/20/0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40/40/20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30/40/20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60/50/-30</a:t>
                      </a:r>
                    </a:p>
                  </a:txBody>
                  <a:tcPr marL="90051" marR="90051" marT="45025" marB="45025" anchor="ctr"/>
                </a:tc>
                <a:extLst>
                  <a:ext uri="{0D108BD9-81ED-4DB2-BD59-A6C34878D82A}">
                    <a16:rowId xmlns:a16="http://schemas.microsoft.com/office/drawing/2014/main" val="1730355515"/>
                  </a:ext>
                </a:extLst>
              </a:tr>
              <a:tr h="634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DeepSeek-32B</a:t>
                      </a:r>
                      <a:endParaRPr lang="en-US" sz="140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0%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≤10%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2/1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0/0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0/0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0/0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0/0</a:t>
                      </a:r>
                    </a:p>
                  </a:txBody>
                  <a:tcPr marL="90051" marR="90051" marT="45025" marB="45025" anchor="ctr"/>
                </a:tc>
                <a:extLst>
                  <a:ext uri="{0D108BD9-81ED-4DB2-BD59-A6C34878D82A}">
                    <a16:rowId xmlns:a16="http://schemas.microsoft.com/office/drawing/2014/main" val="593774997"/>
                  </a:ext>
                </a:extLst>
              </a:tr>
              <a:tr h="634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GLM-4.5-Air</a:t>
                      </a:r>
                      <a:endParaRPr lang="en-US" sz="1400"/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0%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0%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2/1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0/0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0/0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0/0</a:t>
                      </a:r>
                    </a:p>
                  </a:txBody>
                  <a:tcPr marL="90051" marR="90051" marT="45025" marB="45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0/0</a:t>
                      </a:r>
                    </a:p>
                  </a:txBody>
                  <a:tcPr marL="90051" marR="90051" marT="45025" marB="45025" anchor="ctr"/>
                </a:tc>
                <a:extLst>
                  <a:ext uri="{0D108BD9-81ED-4DB2-BD59-A6C34878D82A}">
                    <a16:rowId xmlns:a16="http://schemas.microsoft.com/office/drawing/2014/main" val="2092437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896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>
          <a:extLst>
            <a:ext uri="{FF2B5EF4-FFF2-40B4-BE49-F238E27FC236}">
              <a16:creationId xmlns:a16="http://schemas.microsoft.com/office/drawing/2014/main" id="{D4E1EA4D-D12E-4227-2CA5-425520E7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8">
            <a:extLst>
              <a:ext uri="{FF2B5EF4-FFF2-40B4-BE49-F238E27FC236}">
                <a16:creationId xmlns:a16="http://schemas.microsoft.com/office/drawing/2014/main" id="{3A5F1DDA-156C-065C-01D5-0D6F43FEE6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0744" y="477828"/>
            <a:ext cx="8406809" cy="4187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Key Findings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Shallow gains</a:t>
            </a:r>
            <a:r>
              <a:rPr lang="en-US" dirty="0"/>
              <a:t>: Small improvements in reasoning accuracy at low inference depths (e.g., depth 2).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Rapid collapse</a:t>
            </a:r>
            <a:r>
              <a:rPr lang="en-US" dirty="0"/>
              <a:t>: Significant performance drop beyond </a:t>
            </a:r>
            <a:r>
              <a:rPr lang="en-US" b="1" dirty="0"/>
              <a:t>depth 3</a:t>
            </a:r>
            <a:r>
              <a:rPr lang="en-US" dirty="0"/>
              <a:t>, even for GPT-5.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Unstable behavior</a:t>
            </a:r>
            <a:r>
              <a:rPr lang="en-US" dirty="0"/>
              <a:t>: Open-source models like </a:t>
            </a:r>
            <a:r>
              <a:rPr lang="en-US" b="1" dirty="0" err="1"/>
              <a:t>LLaMA</a:t>
            </a:r>
            <a:r>
              <a:rPr lang="en-US" dirty="0"/>
              <a:t> and </a:t>
            </a:r>
            <a:r>
              <a:rPr lang="en-US" b="1" dirty="0"/>
              <a:t>Qwen</a:t>
            </a:r>
            <a:r>
              <a:rPr lang="en-US" dirty="0"/>
              <a:t> show inconsistent improvements.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No improvements</a:t>
            </a:r>
            <a:r>
              <a:rPr lang="en-US" dirty="0"/>
              <a:t>: </a:t>
            </a:r>
            <a:r>
              <a:rPr lang="en-US" b="1" dirty="0"/>
              <a:t>DeepSeek-32B</a:t>
            </a:r>
            <a:r>
              <a:rPr lang="en-US" dirty="0"/>
              <a:t> and </a:t>
            </a:r>
            <a:r>
              <a:rPr lang="en-US" b="1" dirty="0"/>
              <a:t>GLM-4.5-Air</a:t>
            </a:r>
            <a:r>
              <a:rPr lang="en-US" dirty="0"/>
              <a:t> show no reasoning gain at any depth.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Takeaways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Reasoning prompts are </a:t>
            </a:r>
            <a:r>
              <a:rPr lang="en-US" b="1" dirty="0"/>
              <a:t>ineffective at deeper depths</a:t>
            </a:r>
            <a:r>
              <a:rPr lang="en-US" dirty="0"/>
              <a:t>, where task complexity overwhelms model performance.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Current benchmarks </a:t>
            </a:r>
            <a:r>
              <a:rPr lang="en-US" b="1" dirty="0"/>
              <a:t>miss</a:t>
            </a:r>
            <a:r>
              <a:rPr lang="en-US" dirty="0"/>
              <a:t> the brittleness of reasoning in LLMs at increasing complexity.</a:t>
            </a:r>
          </a:p>
        </p:txBody>
      </p:sp>
    </p:spTree>
    <p:extLst>
      <p:ext uri="{BB962C8B-B14F-4D97-AF65-F5344CB8AC3E}">
        <p14:creationId xmlns:p14="http://schemas.microsoft.com/office/powerpoint/2010/main" val="4141231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33FD6B7D-EABE-61DA-6B63-43B7537F6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829B91AA-59FB-2580-7894-5AA197C51FA0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B03F6D1C-004F-EC39-8EEA-3A748A4DFA61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DAF8E186-743F-ECE0-5CC3-47E3603F81B3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BB724378-8933-1E8E-BB24-568DAD8D8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Visual Results (Graphs) </a:t>
            </a:r>
          </a:p>
        </p:txBody>
      </p:sp>
      <p:sp>
        <p:nvSpPr>
          <p:cNvPr id="338" name="Google Shape;338;p45">
            <a:extLst>
              <a:ext uri="{FF2B5EF4-FFF2-40B4-BE49-F238E27FC236}">
                <a16:creationId xmlns:a16="http://schemas.microsoft.com/office/drawing/2014/main" id="{94FFF42D-8D0A-CBC6-C26F-52EDDA78FB2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339" name="Google Shape;339;p45">
            <a:extLst>
              <a:ext uri="{FF2B5EF4-FFF2-40B4-BE49-F238E27FC236}">
                <a16:creationId xmlns:a16="http://schemas.microsoft.com/office/drawing/2014/main" id="{B980FE8B-845A-AE9C-A168-442765EFF0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6618284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dirty="0"/>
              <a:t>Plots illustrating accuracy vs. depth, highlighting where reasoning performance deteriorates relative to direct answers.</a:t>
            </a:r>
          </a:p>
        </p:txBody>
      </p:sp>
    </p:spTree>
    <p:extLst>
      <p:ext uri="{BB962C8B-B14F-4D97-AF65-F5344CB8AC3E}">
        <p14:creationId xmlns:p14="http://schemas.microsoft.com/office/powerpoint/2010/main" val="1342477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aph of a bar chart&#10;&#10;AI-generated content may be incorrect.">
            <a:extLst>
              <a:ext uri="{FF2B5EF4-FFF2-40B4-BE49-F238E27FC236}">
                <a16:creationId xmlns:a16="http://schemas.microsoft.com/office/drawing/2014/main" id="{3E7FBEA7-DC22-D93C-7811-215EB9111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83" y="570061"/>
            <a:ext cx="3377191" cy="2273813"/>
          </a:xfrm>
          <a:prstGeom prst="rect">
            <a:avLst/>
          </a:prstGeom>
        </p:spPr>
      </p:pic>
      <p:pic>
        <p:nvPicPr>
          <p:cNvPr id="23" name="Picture 22" descr="A graph of a graph with numbers and a line&#10;&#10;AI-generated content may be incorrect.">
            <a:extLst>
              <a:ext uri="{FF2B5EF4-FFF2-40B4-BE49-F238E27FC236}">
                <a16:creationId xmlns:a16="http://schemas.microsoft.com/office/drawing/2014/main" id="{7F312912-2BE0-1EC1-8BC1-A75B85620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587" y="570060"/>
            <a:ext cx="3462198" cy="227381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9835C2-D1A9-3446-11B1-F50A08C4B922}"/>
              </a:ext>
            </a:extLst>
          </p:cNvPr>
          <p:cNvSpPr txBox="1"/>
          <p:nvPr/>
        </p:nvSpPr>
        <p:spPr>
          <a:xfrm>
            <a:off x="758455" y="3004733"/>
            <a:ext cx="35032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1</a:t>
            </a:r>
            <a:r>
              <a:rPr lang="en-US" dirty="0"/>
              <a:t>: </a:t>
            </a:r>
            <a:r>
              <a:rPr lang="en-US" b="1" dirty="0"/>
              <a:t>Accuracy vs Depth — GPT-5 (</a:t>
            </a:r>
            <a:r>
              <a:rPr lang="en-US" b="1" dirty="0" err="1"/>
              <a:t>ProofWriter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Shows how reasoning performance deteriorates as depth increases.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5260A1-C69B-D222-93A7-1B143E8E7BDC}"/>
              </a:ext>
            </a:extLst>
          </p:cNvPr>
          <p:cNvSpPr txBox="1"/>
          <p:nvPr/>
        </p:nvSpPr>
        <p:spPr>
          <a:xfrm>
            <a:off x="4458587" y="2942333"/>
            <a:ext cx="34621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2</a:t>
            </a:r>
            <a:r>
              <a:rPr lang="en-US" dirty="0"/>
              <a:t>: </a:t>
            </a:r>
            <a:r>
              <a:rPr lang="en-US" b="1" dirty="0"/>
              <a:t>Δ vs Depth — GPT-5 (</a:t>
            </a:r>
            <a:r>
              <a:rPr lang="en-US" b="1" dirty="0" err="1"/>
              <a:t>ProofWriter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Difference between reasoning and direct answers, highlighting the collapse points.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C8B45D-9C72-1A50-8A4A-012523D8A2AD}"/>
              </a:ext>
            </a:extLst>
          </p:cNvPr>
          <p:cNvSpPr txBox="1"/>
          <p:nvPr/>
        </p:nvSpPr>
        <p:spPr>
          <a:xfrm>
            <a:off x="758455" y="4254378"/>
            <a:ext cx="7286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Shallow Depths</a:t>
            </a:r>
            <a:r>
              <a:rPr lang="en-US" dirty="0"/>
              <a:t>: Most models show </a:t>
            </a:r>
            <a:r>
              <a:rPr lang="en-US" b="1" dirty="0"/>
              <a:t>stable performance</a:t>
            </a:r>
            <a:r>
              <a:rPr lang="en-US" dirty="0"/>
              <a:t> with direct answers. Reasoning boosts performance marginally.</a:t>
            </a:r>
          </a:p>
        </p:txBody>
      </p:sp>
    </p:spTree>
    <p:extLst>
      <p:ext uri="{BB962C8B-B14F-4D97-AF65-F5344CB8AC3E}">
        <p14:creationId xmlns:p14="http://schemas.microsoft.com/office/powerpoint/2010/main" val="3586312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419D-1DD8-4DC7-1E0B-7C6AB074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ED13D90A-B47E-5DDE-3E29-065A4200E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782" y="392639"/>
            <a:ext cx="3403099" cy="2273813"/>
          </a:xfrm>
          <a:prstGeom prst="rect">
            <a:avLst/>
          </a:prstGeom>
        </p:spPr>
      </p:pic>
      <p:pic>
        <p:nvPicPr>
          <p:cNvPr id="27" name="Picture 26" descr="A graph of a comparison between depth and a direct&#10;&#10;AI-generated content may be incorrect.">
            <a:extLst>
              <a:ext uri="{FF2B5EF4-FFF2-40B4-BE49-F238E27FC236}">
                <a16:creationId xmlns:a16="http://schemas.microsoft.com/office/drawing/2014/main" id="{EFEDC67B-30E1-41EB-F8E2-4B5ADD09B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92639"/>
            <a:ext cx="3446194" cy="22738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AF45A9-441F-A715-37DC-D31D312A9397}"/>
              </a:ext>
            </a:extLst>
          </p:cNvPr>
          <p:cNvSpPr txBox="1"/>
          <p:nvPr/>
        </p:nvSpPr>
        <p:spPr>
          <a:xfrm>
            <a:off x="998782" y="2804863"/>
            <a:ext cx="34030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Figure 3</a:t>
            </a:r>
            <a:r>
              <a:rPr lang="en-US"/>
              <a:t>: </a:t>
            </a:r>
            <a:r>
              <a:rPr lang="en-US" b="1"/>
              <a:t>Accuracy vs Depth — LLaMA-3.1-8B (CLUTRR)</a:t>
            </a:r>
            <a:br>
              <a:rPr lang="en-US"/>
            </a:br>
            <a:r>
              <a:rPr lang="en-US"/>
              <a:t>Shows relatively stable performance for reasoning and direct prompts at deeper depths.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78AD6-8494-23EC-51A6-19865356E27E}"/>
              </a:ext>
            </a:extLst>
          </p:cNvPr>
          <p:cNvSpPr txBox="1"/>
          <p:nvPr/>
        </p:nvSpPr>
        <p:spPr>
          <a:xfrm>
            <a:off x="4572000" y="2804863"/>
            <a:ext cx="34461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Figure 4</a:t>
            </a:r>
            <a:r>
              <a:rPr lang="en-US" dirty="0"/>
              <a:t>: </a:t>
            </a:r>
            <a:r>
              <a:rPr lang="en-US" b="1" dirty="0"/>
              <a:t>Accuracy vs Depth — Qwen-2.5-7B (CLUTRR)</a:t>
            </a:r>
            <a:br>
              <a:rPr lang="en-US" dirty="0"/>
            </a:br>
            <a:r>
              <a:rPr lang="en-US" dirty="0"/>
              <a:t>A sharp improvement at depth 4, followed by a collapse.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0FC02-043A-83C4-A468-8454AC2AA69A}"/>
              </a:ext>
            </a:extLst>
          </p:cNvPr>
          <p:cNvSpPr txBox="1"/>
          <p:nvPr/>
        </p:nvSpPr>
        <p:spPr>
          <a:xfrm>
            <a:off x="998782" y="4227641"/>
            <a:ext cx="7085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Deep Reasoning</a:t>
            </a:r>
            <a:r>
              <a:rPr lang="en-US" dirty="0"/>
              <a:t>: Across all models, </a:t>
            </a:r>
            <a:r>
              <a:rPr lang="en-US" b="1" dirty="0"/>
              <a:t>reasoning performance collapses</a:t>
            </a:r>
            <a:r>
              <a:rPr lang="en-US" dirty="0"/>
              <a:t> beyond depth 3, illustrating the </a:t>
            </a:r>
            <a:r>
              <a:rPr lang="en-US" b="1" dirty="0"/>
              <a:t>depth-driven brittleness</a:t>
            </a:r>
            <a:r>
              <a:rPr lang="en-US" dirty="0"/>
              <a:t> of reasoning in LLMs.</a:t>
            </a:r>
          </a:p>
        </p:txBody>
      </p:sp>
    </p:spTree>
    <p:extLst>
      <p:ext uri="{BB962C8B-B14F-4D97-AF65-F5344CB8AC3E}">
        <p14:creationId xmlns:p14="http://schemas.microsoft.com/office/powerpoint/2010/main" val="4213659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51"/>
          <p:cNvGrpSpPr/>
          <p:nvPr/>
        </p:nvGrpSpPr>
        <p:grpSpPr>
          <a:xfrm>
            <a:off x="0" y="-389156"/>
            <a:ext cx="9144000" cy="5143550"/>
            <a:chOff x="0" y="-50"/>
            <a:chExt cx="9144000" cy="5143550"/>
          </a:xfrm>
        </p:grpSpPr>
        <p:sp>
          <p:nvSpPr>
            <p:cNvPr id="408" name="Google Shape;408;p51"/>
            <p:cNvSpPr/>
            <p:nvPr/>
          </p:nvSpPr>
          <p:spPr>
            <a:xfrm>
              <a:off x="0" y="1623899"/>
              <a:ext cx="9144000" cy="989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09" name="Google Shape;409;p51"/>
            <p:cNvGrpSpPr/>
            <p:nvPr/>
          </p:nvGrpSpPr>
          <p:grpSpPr>
            <a:xfrm>
              <a:off x="283800" y="-50"/>
              <a:ext cx="8718300" cy="5143550"/>
              <a:chOff x="283800" y="-50"/>
              <a:chExt cx="8718300" cy="5143550"/>
            </a:xfrm>
          </p:grpSpPr>
          <p:cxnSp>
            <p:nvCxnSpPr>
              <p:cNvPr id="410" name="Google Shape;410;p51"/>
              <p:cNvCxnSpPr/>
              <p:nvPr/>
            </p:nvCxnSpPr>
            <p:spPr>
              <a:xfrm rot="10800000">
                <a:off x="9002100" y="1642500"/>
                <a:ext cx="0" cy="3501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1" name="Google Shape;411;p51"/>
              <p:cNvCxnSpPr/>
              <p:nvPr/>
            </p:nvCxnSpPr>
            <p:spPr>
              <a:xfrm rot="10800000">
                <a:off x="283800" y="-50"/>
                <a:ext cx="0" cy="263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12" name="Google Shape;412;p51"/>
          <p:cNvSpPr txBox="1">
            <a:spLocks noGrp="1"/>
          </p:cNvSpPr>
          <p:nvPr>
            <p:ph type="title"/>
          </p:nvPr>
        </p:nvSpPr>
        <p:spPr>
          <a:xfrm>
            <a:off x="713250" y="267594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dirty="0"/>
          </a:p>
        </p:txBody>
      </p:sp>
      <p:sp>
        <p:nvSpPr>
          <p:cNvPr id="414" name="Google Shape;414;p51"/>
          <p:cNvSpPr txBox="1">
            <a:spLocks noGrp="1"/>
          </p:cNvSpPr>
          <p:nvPr>
            <p:ph type="subTitle" idx="2"/>
          </p:nvPr>
        </p:nvSpPr>
        <p:spPr>
          <a:xfrm>
            <a:off x="958709" y="2329505"/>
            <a:ext cx="2711047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Key Observation</a:t>
            </a:r>
            <a:endParaRPr dirty="0"/>
          </a:p>
        </p:txBody>
      </p:sp>
      <p:sp>
        <p:nvSpPr>
          <p:cNvPr id="415" name="Google Shape;415;p51"/>
          <p:cNvSpPr txBox="1">
            <a:spLocks noGrp="1"/>
          </p:cNvSpPr>
          <p:nvPr>
            <p:ph type="subTitle" idx="3"/>
          </p:nvPr>
        </p:nvSpPr>
        <p:spPr>
          <a:xfrm>
            <a:off x="4713770" y="2901054"/>
            <a:ext cx="4146429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300" dirty="0"/>
              <a:t>Current benchmarks that do not measure reasoning </a:t>
            </a:r>
            <a:r>
              <a:rPr lang="en-US" sz="1300" b="1" dirty="0"/>
              <a:t>beyond shallow depths</a:t>
            </a:r>
            <a:r>
              <a:rPr lang="en-US" sz="1300" dirty="0"/>
              <a:t> tend to underestimate LLMs’ limitations.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300" dirty="0"/>
              <a:t>Depth-aware evaluations offer a better understanding of </a:t>
            </a:r>
            <a:r>
              <a:rPr lang="en-US" sz="1300" b="1" dirty="0"/>
              <a:t>when reasoning breaks down</a:t>
            </a:r>
            <a:r>
              <a:rPr lang="en-US" sz="1300" dirty="0"/>
              <a:t> and highlight model weaknesses that are not captured by conventional tasks.</a:t>
            </a:r>
          </a:p>
          <a:p>
            <a:pPr marL="0" lvl="0" indent="0" algn="just"/>
            <a:endParaRPr dirty="0"/>
          </a:p>
        </p:txBody>
      </p:sp>
      <p:sp>
        <p:nvSpPr>
          <p:cNvPr id="416" name="Google Shape;416;p51"/>
          <p:cNvSpPr txBox="1">
            <a:spLocks noGrp="1"/>
          </p:cNvSpPr>
          <p:nvPr>
            <p:ph type="subTitle" idx="4"/>
          </p:nvPr>
        </p:nvSpPr>
        <p:spPr>
          <a:xfrm>
            <a:off x="5022284" y="2270782"/>
            <a:ext cx="297459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Implications</a:t>
            </a:r>
            <a:endParaRPr dirty="0"/>
          </a:p>
        </p:txBody>
      </p:sp>
      <p:grpSp>
        <p:nvGrpSpPr>
          <p:cNvPr id="423" name="Google Shape;423;p51"/>
          <p:cNvGrpSpPr/>
          <p:nvPr/>
        </p:nvGrpSpPr>
        <p:grpSpPr>
          <a:xfrm>
            <a:off x="6209214" y="1514816"/>
            <a:ext cx="600730" cy="522073"/>
            <a:chOff x="1190625" y="579800"/>
            <a:chExt cx="5219200" cy="4535825"/>
          </a:xfrm>
        </p:grpSpPr>
        <p:sp>
          <p:nvSpPr>
            <p:cNvPr id="424" name="Google Shape;424;p51"/>
            <p:cNvSpPr/>
            <p:nvPr/>
          </p:nvSpPr>
          <p:spPr>
            <a:xfrm>
              <a:off x="4907650" y="2826500"/>
              <a:ext cx="159050" cy="302575"/>
            </a:xfrm>
            <a:custGeom>
              <a:avLst/>
              <a:gdLst/>
              <a:ahLst/>
              <a:cxnLst/>
              <a:rect l="l" t="t" r="r" b="b"/>
              <a:pathLst>
                <a:path w="6362" h="12103" extrusionOk="0">
                  <a:moveTo>
                    <a:pt x="3197" y="0"/>
                  </a:moveTo>
                  <a:cubicBezTo>
                    <a:pt x="1403" y="0"/>
                    <a:pt x="0" y="1436"/>
                    <a:pt x="0" y="3197"/>
                  </a:cubicBezTo>
                  <a:lnTo>
                    <a:pt x="0" y="8906"/>
                  </a:lnTo>
                  <a:cubicBezTo>
                    <a:pt x="0" y="10667"/>
                    <a:pt x="1403" y="12102"/>
                    <a:pt x="3197" y="12102"/>
                  </a:cubicBezTo>
                  <a:cubicBezTo>
                    <a:pt x="4959" y="12102"/>
                    <a:pt x="6361" y="10667"/>
                    <a:pt x="6361" y="8906"/>
                  </a:cubicBezTo>
                  <a:lnTo>
                    <a:pt x="6361" y="3197"/>
                  </a:lnTo>
                  <a:cubicBezTo>
                    <a:pt x="6361" y="1436"/>
                    <a:pt x="4959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1"/>
            <p:cNvSpPr/>
            <p:nvPr/>
          </p:nvSpPr>
          <p:spPr>
            <a:xfrm>
              <a:off x="5214275" y="2826500"/>
              <a:ext cx="159850" cy="302575"/>
            </a:xfrm>
            <a:custGeom>
              <a:avLst/>
              <a:gdLst/>
              <a:ahLst/>
              <a:cxnLst/>
              <a:rect l="l" t="t" r="r" b="b"/>
              <a:pathLst>
                <a:path w="6394" h="12103" extrusionOk="0">
                  <a:moveTo>
                    <a:pt x="3197" y="0"/>
                  </a:moveTo>
                  <a:cubicBezTo>
                    <a:pt x="1436" y="0"/>
                    <a:pt x="0" y="1436"/>
                    <a:pt x="0" y="3197"/>
                  </a:cubicBezTo>
                  <a:lnTo>
                    <a:pt x="0" y="8906"/>
                  </a:lnTo>
                  <a:cubicBezTo>
                    <a:pt x="0" y="10667"/>
                    <a:pt x="1436" y="12102"/>
                    <a:pt x="3197" y="12102"/>
                  </a:cubicBezTo>
                  <a:cubicBezTo>
                    <a:pt x="4959" y="12102"/>
                    <a:pt x="6394" y="10667"/>
                    <a:pt x="6394" y="8906"/>
                  </a:cubicBezTo>
                  <a:lnTo>
                    <a:pt x="6394" y="3197"/>
                  </a:lnTo>
                  <a:cubicBezTo>
                    <a:pt x="6394" y="1436"/>
                    <a:pt x="4959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" name="Google Shape;426;p51"/>
            <p:cNvSpPr/>
            <p:nvPr/>
          </p:nvSpPr>
          <p:spPr>
            <a:xfrm>
              <a:off x="5521725" y="2826500"/>
              <a:ext cx="159850" cy="302575"/>
            </a:xfrm>
            <a:custGeom>
              <a:avLst/>
              <a:gdLst/>
              <a:ahLst/>
              <a:cxnLst/>
              <a:rect l="l" t="t" r="r" b="b"/>
              <a:pathLst>
                <a:path w="6394" h="12103" extrusionOk="0">
                  <a:moveTo>
                    <a:pt x="3197" y="0"/>
                  </a:moveTo>
                  <a:cubicBezTo>
                    <a:pt x="1435" y="0"/>
                    <a:pt x="0" y="1436"/>
                    <a:pt x="0" y="3197"/>
                  </a:cubicBezTo>
                  <a:lnTo>
                    <a:pt x="0" y="8906"/>
                  </a:lnTo>
                  <a:cubicBezTo>
                    <a:pt x="0" y="10667"/>
                    <a:pt x="1435" y="12102"/>
                    <a:pt x="3197" y="12102"/>
                  </a:cubicBezTo>
                  <a:cubicBezTo>
                    <a:pt x="4958" y="12102"/>
                    <a:pt x="6394" y="10667"/>
                    <a:pt x="6394" y="8906"/>
                  </a:cubicBezTo>
                  <a:lnTo>
                    <a:pt x="6394" y="3197"/>
                  </a:lnTo>
                  <a:cubicBezTo>
                    <a:pt x="6394" y="1436"/>
                    <a:pt x="4958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51"/>
            <p:cNvSpPr/>
            <p:nvPr/>
          </p:nvSpPr>
          <p:spPr>
            <a:xfrm>
              <a:off x="5829150" y="2826500"/>
              <a:ext cx="159875" cy="302575"/>
            </a:xfrm>
            <a:custGeom>
              <a:avLst/>
              <a:gdLst/>
              <a:ahLst/>
              <a:cxnLst/>
              <a:rect l="l" t="t" r="r" b="b"/>
              <a:pathLst>
                <a:path w="6395" h="12103" extrusionOk="0">
                  <a:moveTo>
                    <a:pt x="3198" y="0"/>
                  </a:moveTo>
                  <a:cubicBezTo>
                    <a:pt x="1403" y="0"/>
                    <a:pt x="1" y="1436"/>
                    <a:pt x="1" y="3197"/>
                  </a:cubicBezTo>
                  <a:lnTo>
                    <a:pt x="1" y="8906"/>
                  </a:lnTo>
                  <a:cubicBezTo>
                    <a:pt x="1" y="10667"/>
                    <a:pt x="1403" y="12102"/>
                    <a:pt x="3198" y="12102"/>
                  </a:cubicBezTo>
                  <a:cubicBezTo>
                    <a:pt x="4959" y="12102"/>
                    <a:pt x="6394" y="10667"/>
                    <a:pt x="6394" y="8906"/>
                  </a:cubicBezTo>
                  <a:lnTo>
                    <a:pt x="6394" y="3197"/>
                  </a:lnTo>
                  <a:cubicBezTo>
                    <a:pt x="6394" y="1436"/>
                    <a:pt x="4959" y="0"/>
                    <a:pt x="3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51"/>
            <p:cNvSpPr/>
            <p:nvPr/>
          </p:nvSpPr>
          <p:spPr>
            <a:xfrm>
              <a:off x="1818550" y="1179200"/>
              <a:ext cx="3963325" cy="1485850"/>
            </a:xfrm>
            <a:custGeom>
              <a:avLst/>
              <a:gdLst/>
              <a:ahLst/>
              <a:cxnLst/>
              <a:rect l="l" t="t" r="r" b="b"/>
              <a:pathLst>
                <a:path w="158533" h="59434" extrusionOk="0">
                  <a:moveTo>
                    <a:pt x="145289" y="6394"/>
                  </a:moveTo>
                  <a:cubicBezTo>
                    <a:pt x="149073" y="6394"/>
                    <a:pt x="152139" y="9460"/>
                    <a:pt x="152139" y="13244"/>
                  </a:cubicBezTo>
                  <a:cubicBezTo>
                    <a:pt x="152139" y="17028"/>
                    <a:pt x="149073" y="20094"/>
                    <a:pt x="145289" y="20094"/>
                  </a:cubicBezTo>
                  <a:cubicBezTo>
                    <a:pt x="141505" y="20094"/>
                    <a:pt x="138439" y="17028"/>
                    <a:pt x="138439" y="13244"/>
                  </a:cubicBezTo>
                  <a:cubicBezTo>
                    <a:pt x="138439" y="9460"/>
                    <a:pt x="141505" y="6394"/>
                    <a:pt x="145289" y="6394"/>
                  </a:cubicBezTo>
                  <a:close/>
                  <a:moveTo>
                    <a:pt x="60902" y="10080"/>
                  </a:moveTo>
                  <a:cubicBezTo>
                    <a:pt x="64653" y="10080"/>
                    <a:pt x="67752" y="13146"/>
                    <a:pt x="67752" y="16930"/>
                  </a:cubicBezTo>
                  <a:cubicBezTo>
                    <a:pt x="67752" y="20714"/>
                    <a:pt x="64653" y="23780"/>
                    <a:pt x="60902" y="23780"/>
                  </a:cubicBezTo>
                  <a:cubicBezTo>
                    <a:pt x="57118" y="23780"/>
                    <a:pt x="54019" y="20714"/>
                    <a:pt x="54019" y="16930"/>
                  </a:cubicBezTo>
                  <a:cubicBezTo>
                    <a:pt x="54019" y="13146"/>
                    <a:pt x="57118" y="10080"/>
                    <a:pt x="60902" y="10080"/>
                  </a:cubicBezTo>
                  <a:close/>
                  <a:moveTo>
                    <a:pt x="13244" y="27988"/>
                  </a:moveTo>
                  <a:cubicBezTo>
                    <a:pt x="17028" y="27988"/>
                    <a:pt x="20094" y="31054"/>
                    <a:pt x="20094" y="34838"/>
                  </a:cubicBezTo>
                  <a:cubicBezTo>
                    <a:pt x="20094" y="38622"/>
                    <a:pt x="17028" y="41689"/>
                    <a:pt x="13244" y="41689"/>
                  </a:cubicBezTo>
                  <a:cubicBezTo>
                    <a:pt x="9460" y="41689"/>
                    <a:pt x="6394" y="38622"/>
                    <a:pt x="6394" y="34838"/>
                  </a:cubicBezTo>
                  <a:cubicBezTo>
                    <a:pt x="6394" y="31054"/>
                    <a:pt x="9460" y="27988"/>
                    <a:pt x="13244" y="27988"/>
                  </a:cubicBezTo>
                  <a:close/>
                  <a:moveTo>
                    <a:pt x="100828" y="39340"/>
                  </a:moveTo>
                  <a:cubicBezTo>
                    <a:pt x="104612" y="39340"/>
                    <a:pt x="107678" y="42406"/>
                    <a:pt x="107678" y="46190"/>
                  </a:cubicBezTo>
                  <a:cubicBezTo>
                    <a:pt x="107678" y="49974"/>
                    <a:pt x="104612" y="53040"/>
                    <a:pt x="100828" y="53040"/>
                  </a:cubicBezTo>
                  <a:cubicBezTo>
                    <a:pt x="97044" y="53040"/>
                    <a:pt x="93978" y="49974"/>
                    <a:pt x="93978" y="46190"/>
                  </a:cubicBezTo>
                  <a:cubicBezTo>
                    <a:pt x="93978" y="42406"/>
                    <a:pt x="97044" y="39340"/>
                    <a:pt x="100828" y="39340"/>
                  </a:cubicBezTo>
                  <a:close/>
                  <a:moveTo>
                    <a:pt x="145289" y="0"/>
                  </a:moveTo>
                  <a:cubicBezTo>
                    <a:pt x="137982" y="0"/>
                    <a:pt x="132046" y="5937"/>
                    <a:pt x="132046" y="13244"/>
                  </a:cubicBezTo>
                  <a:cubicBezTo>
                    <a:pt x="132046" y="15071"/>
                    <a:pt x="132404" y="16800"/>
                    <a:pt x="133057" y="18365"/>
                  </a:cubicBezTo>
                  <a:lnTo>
                    <a:pt x="109309" y="36013"/>
                  </a:lnTo>
                  <a:cubicBezTo>
                    <a:pt x="106993" y="34121"/>
                    <a:pt x="104058" y="32946"/>
                    <a:pt x="100828" y="32946"/>
                  </a:cubicBezTo>
                  <a:cubicBezTo>
                    <a:pt x="97632" y="32946"/>
                    <a:pt x="94696" y="34088"/>
                    <a:pt x="92412" y="35980"/>
                  </a:cubicBezTo>
                  <a:lnTo>
                    <a:pt x="73167" y="21921"/>
                  </a:lnTo>
                  <a:cubicBezTo>
                    <a:pt x="73786" y="20388"/>
                    <a:pt x="74145" y="18692"/>
                    <a:pt x="74145" y="16930"/>
                  </a:cubicBezTo>
                  <a:cubicBezTo>
                    <a:pt x="74145" y="9623"/>
                    <a:pt x="68176" y="3686"/>
                    <a:pt x="60902" y="3686"/>
                  </a:cubicBezTo>
                  <a:cubicBezTo>
                    <a:pt x="53595" y="3686"/>
                    <a:pt x="47625" y="9623"/>
                    <a:pt x="47625" y="16930"/>
                  </a:cubicBezTo>
                  <a:cubicBezTo>
                    <a:pt x="47625" y="17452"/>
                    <a:pt x="47691" y="17974"/>
                    <a:pt x="47723" y="18463"/>
                  </a:cubicBezTo>
                  <a:lnTo>
                    <a:pt x="24139" y="27336"/>
                  </a:lnTo>
                  <a:cubicBezTo>
                    <a:pt x="21758" y="23878"/>
                    <a:pt x="17746" y="21595"/>
                    <a:pt x="13244" y="21595"/>
                  </a:cubicBezTo>
                  <a:cubicBezTo>
                    <a:pt x="5937" y="21595"/>
                    <a:pt x="0" y="27531"/>
                    <a:pt x="0" y="34838"/>
                  </a:cubicBezTo>
                  <a:cubicBezTo>
                    <a:pt x="0" y="42145"/>
                    <a:pt x="5937" y="48082"/>
                    <a:pt x="13244" y="48082"/>
                  </a:cubicBezTo>
                  <a:cubicBezTo>
                    <a:pt x="20551" y="48082"/>
                    <a:pt x="26488" y="42145"/>
                    <a:pt x="26488" y="34838"/>
                  </a:cubicBezTo>
                  <a:cubicBezTo>
                    <a:pt x="26488" y="34316"/>
                    <a:pt x="26455" y="33827"/>
                    <a:pt x="26390" y="33305"/>
                  </a:cubicBezTo>
                  <a:lnTo>
                    <a:pt x="49974" y="24433"/>
                  </a:lnTo>
                  <a:cubicBezTo>
                    <a:pt x="52388" y="27890"/>
                    <a:pt x="56367" y="30174"/>
                    <a:pt x="60902" y="30174"/>
                  </a:cubicBezTo>
                  <a:cubicBezTo>
                    <a:pt x="64131" y="30174"/>
                    <a:pt x="67067" y="28999"/>
                    <a:pt x="69383" y="27075"/>
                  </a:cubicBezTo>
                  <a:lnTo>
                    <a:pt x="88596" y="41101"/>
                  </a:lnTo>
                  <a:cubicBezTo>
                    <a:pt x="87943" y="42667"/>
                    <a:pt x="87585" y="44396"/>
                    <a:pt x="87585" y="46190"/>
                  </a:cubicBezTo>
                  <a:cubicBezTo>
                    <a:pt x="87585" y="53497"/>
                    <a:pt x="93521" y="59434"/>
                    <a:pt x="100828" y="59434"/>
                  </a:cubicBezTo>
                  <a:cubicBezTo>
                    <a:pt x="108135" y="59434"/>
                    <a:pt x="114072" y="53497"/>
                    <a:pt x="114072" y="46190"/>
                  </a:cubicBezTo>
                  <a:cubicBezTo>
                    <a:pt x="114072" y="44429"/>
                    <a:pt x="113713" y="42732"/>
                    <a:pt x="113093" y="41167"/>
                  </a:cubicBezTo>
                  <a:lnTo>
                    <a:pt x="136873" y="23487"/>
                  </a:lnTo>
                  <a:cubicBezTo>
                    <a:pt x="139189" y="25379"/>
                    <a:pt x="142092" y="26488"/>
                    <a:pt x="145289" y="26488"/>
                  </a:cubicBezTo>
                  <a:cubicBezTo>
                    <a:pt x="152596" y="26488"/>
                    <a:pt x="158533" y="20551"/>
                    <a:pt x="158533" y="13244"/>
                  </a:cubicBezTo>
                  <a:cubicBezTo>
                    <a:pt x="158533" y="5937"/>
                    <a:pt x="152596" y="0"/>
                    <a:pt x="145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1"/>
            <p:cNvSpPr/>
            <p:nvPr/>
          </p:nvSpPr>
          <p:spPr>
            <a:xfrm>
              <a:off x="1591825" y="2677275"/>
              <a:ext cx="1310550" cy="159025"/>
            </a:xfrm>
            <a:custGeom>
              <a:avLst/>
              <a:gdLst/>
              <a:ahLst/>
              <a:cxnLst/>
              <a:rect l="l" t="t" r="r" b="b"/>
              <a:pathLst>
                <a:path w="52422" h="6361" extrusionOk="0">
                  <a:moveTo>
                    <a:pt x="3198" y="0"/>
                  </a:moveTo>
                  <a:cubicBezTo>
                    <a:pt x="1436" y="0"/>
                    <a:pt x="1" y="1403"/>
                    <a:pt x="1" y="3164"/>
                  </a:cubicBezTo>
                  <a:cubicBezTo>
                    <a:pt x="1" y="4958"/>
                    <a:pt x="1436" y="6361"/>
                    <a:pt x="3198" y="6361"/>
                  </a:cubicBezTo>
                  <a:lnTo>
                    <a:pt x="49224" y="6361"/>
                  </a:lnTo>
                  <a:cubicBezTo>
                    <a:pt x="50986" y="6361"/>
                    <a:pt x="52421" y="4958"/>
                    <a:pt x="52421" y="3164"/>
                  </a:cubicBezTo>
                  <a:cubicBezTo>
                    <a:pt x="52421" y="1403"/>
                    <a:pt x="50986" y="0"/>
                    <a:pt x="49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1"/>
            <p:cNvSpPr/>
            <p:nvPr/>
          </p:nvSpPr>
          <p:spPr>
            <a:xfrm>
              <a:off x="1591825" y="2969200"/>
              <a:ext cx="1038975" cy="159875"/>
            </a:xfrm>
            <a:custGeom>
              <a:avLst/>
              <a:gdLst/>
              <a:ahLst/>
              <a:cxnLst/>
              <a:rect l="l" t="t" r="r" b="b"/>
              <a:pathLst>
                <a:path w="41559" h="6395" extrusionOk="0">
                  <a:moveTo>
                    <a:pt x="3198" y="1"/>
                  </a:moveTo>
                  <a:cubicBezTo>
                    <a:pt x="1436" y="1"/>
                    <a:pt x="1" y="1436"/>
                    <a:pt x="1" y="3198"/>
                  </a:cubicBezTo>
                  <a:cubicBezTo>
                    <a:pt x="1" y="4959"/>
                    <a:pt x="1436" y="6394"/>
                    <a:pt x="3198" y="6394"/>
                  </a:cubicBezTo>
                  <a:lnTo>
                    <a:pt x="38362" y="6394"/>
                  </a:lnTo>
                  <a:cubicBezTo>
                    <a:pt x="40123" y="6394"/>
                    <a:pt x="41559" y="4959"/>
                    <a:pt x="41559" y="3198"/>
                  </a:cubicBezTo>
                  <a:cubicBezTo>
                    <a:pt x="41559" y="1436"/>
                    <a:pt x="40123" y="1"/>
                    <a:pt x="38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1"/>
            <p:cNvSpPr/>
            <p:nvPr/>
          </p:nvSpPr>
          <p:spPr>
            <a:xfrm>
              <a:off x="1190625" y="579800"/>
              <a:ext cx="5219200" cy="4535825"/>
            </a:xfrm>
            <a:custGeom>
              <a:avLst/>
              <a:gdLst/>
              <a:ahLst/>
              <a:cxnLst/>
              <a:rect l="l" t="t" r="r" b="b"/>
              <a:pathLst>
                <a:path w="208768" h="181433" extrusionOk="0">
                  <a:moveTo>
                    <a:pt x="124575" y="141016"/>
                  </a:moveTo>
                  <a:lnTo>
                    <a:pt x="127054" y="160490"/>
                  </a:lnTo>
                  <a:lnTo>
                    <a:pt x="81713" y="160490"/>
                  </a:lnTo>
                  <a:lnTo>
                    <a:pt x="84192" y="141016"/>
                  </a:lnTo>
                  <a:close/>
                  <a:moveTo>
                    <a:pt x="148812" y="166884"/>
                  </a:moveTo>
                  <a:lnTo>
                    <a:pt x="148812" y="175039"/>
                  </a:lnTo>
                  <a:lnTo>
                    <a:pt x="59955" y="175039"/>
                  </a:lnTo>
                  <a:lnTo>
                    <a:pt x="59955" y="166884"/>
                  </a:lnTo>
                  <a:close/>
                  <a:moveTo>
                    <a:pt x="15201" y="1"/>
                  </a:moveTo>
                  <a:cubicBezTo>
                    <a:pt x="6818" y="1"/>
                    <a:pt x="0" y="6818"/>
                    <a:pt x="0" y="15202"/>
                  </a:cubicBezTo>
                  <a:lnTo>
                    <a:pt x="0" y="125816"/>
                  </a:lnTo>
                  <a:cubicBezTo>
                    <a:pt x="0" y="134199"/>
                    <a:pt x="6818" y="141016"/>
                    <a:pt x="15201" y="141016"/>
                  </a:cubicBezTo>
                  <a:lnTo>
                    <a:pt x="77733" y="141016"/>
                  </a:lnTo>
                  <a:lnTo>
                    <a:pt x="75254" y="160490"/>
                  </a:lnTo>
                  <a:lnTo>
                    <a:pt x="56759" y="160490"/>
                  </a:lnTo>
                  <a:cubicBezTo>
                    <a:pt x="54997" y="160490"/>
                    <a:pt x="53562" y="161926"/>
                    <a:pt x="53562" y="163687"/>
                  </a:cubicBezTo>
                  <a:lnTo>
                    <a:pt x="53562" y="178236"/>
                  </a:lnTo>
                  <a:cubicBezTo>
                    <a:pt x="53562" y="179997"/>
                    <a:pt x="54997" y="181432"/>
                    <a:pt x="56759" y="181432"/>
                  </a:cubicBezTo>
                  <a:lnTo>
                    <a:pt x="152009" y="181432"/>
                  </a:lnTo>
                  <a:cubicBezTo>
                    <a:pt x="153770" y="181432"/>
                    <a:pt x="155205" y="179997"/>
                    <a:pt x="155205" y="178236"/>
                  </a:cubicBezTo>
                  <a:lnTo>
                    <a:pt x="155205" y="163687"/>
                  </a:lnTo>
                  <a:cubicBezTo>
                    <a:pt x="155205" y="161926"/>
                    <a:pt x="153770" y="160490"/>
                    <a:pt x="152009" y="160490"/>
                  </a:cubicBezTo>
                  <a:lnTo>
                    <a:pt x="133513" y="160490"/>
                  </a:lnTo>
                  <a:lnTo>
                    <a:pt x="131034" y="141016"/>
                  </a:lnTo>
                  <a:lnTo>
                    <a:pt x="158859" y="141016"/>
                  </a:lnTo>
                  <a:cubicBezTo>
                    <a:pt x="160620" y="141016"/>
                    <a:pt x="162055" y="139581"/>
                    <a:pt x="162055" y="137820"/>
                  </a:cubicBezTo>
                  <a:cubicBezTo>
                    <a:pt x="162055" y="136058"/>
                    <a:pt x="160620" y="134623"/>
                    <a:pt x="158859" y="134623"/>
                  </a:cubicBezTo>
                  <a:lnTo>
                    <a:pt x="15201" y="134623"/>
                  </a:lnTo>
                  <a:cubicBezTo>
                    <a:pt x="10340" y="134623"/>
                    <a:pt x="6393" y="130676"/>
                    <a:pt x="6393" y="125816"/>
                  </a:cubicBezTo>
                  <a:lnTo>
                    <a:pt x="6393" y="118476"/>
                  </a:lnTo>
                  <a:lnTo>
                    <a:pt x="202374" y="118476"/>
                  </a:lnTo>
                  <a:lnTo>
                    <a:pt x="202374" y="125816"/>
                  </a:lnTo>
                  <a:cubicBezTo>
                    <a:pt x="202374" y="130676"/>
                    <a:pt x="198427" y="134623"/>
                    <a:pt x="193566" y="134623"/>
                  </a:cubicBezTo>
                  <a:lnTo>
                    <a:pt x="173375" y="134623"/>
                  </a:lnTo>
                  <a:cubicBezTo>
                    <a:pt x="171580" y="134623"/>
                    <a:pt x="170178" y="136058"/>
                    <a:pt x="170178" y="137820"/>
                  </a:cubicBezTo>
                  <a:cubicBezTo>
                    <a:pt x="170178" y="139581"/>
                    <a:pt x="171580" y="141016"/>
                    <a:pt x="173375" y="141016"/>
                  </a:cubicBezTo>
                  <a:lnTo>
                    <a:pt x="193566" y="141016"/>
                  </a:lnTo>
                  <a:cubicBezTo>
                    <a:pt x="201950" y="141016"/>
                    <a:pt x="208767" y="134199"/>
                    <a:pt x="208767" y="125816"/>
                  </a:cubicBezTo>
                  <a:lnTo>
                    <a:pt x="208767" y="15202"/>
                  </a:lnTo>
                  <a:cubicBezTo>
                    <a:pt x="208767" y="6818"/>
                    <a:pt x="201950" y="1"/>
                    <a:pt x="193566" y="1"/>
                  </a:cubicBezTo>
                  <a:lnTo>
                    <a:pt x="56595" y="1"/>
                  </a:lnTo>
                  <a:cubicBezTo>
                    <a:pt x="54834" y="1"/>
                    <a:pt x="53399" y="1436"/>
                    <a:pt x="53399" y="3197"/>
                  </a:cubicBezTo>
                  <a:cubicBezTo>
                    <a:pt x="53399" y="4959"/>
                    <a:pt x="54834" y="6394"/>
                    <a:pt x="56595" y="6394"/>
                  </a:cubicBezTo>
                  <a:lnTo>
                    <a:pt x="193566" y="6394"/>
                  </a:lnTo>
                  <a:cubicBezTo>
                    <a:pt x="198427" y="6394"/>
                    <a:pt x="202374" y="10341"/>
                    <a:pt x="202374" y="15202"/>
                  </a:cubicBezTo>
                  <a:lnTo>
                    <a:pt x="202374" y="112115"/>
                  </a:lnTo>
                  <a:lnTo>
                    <a:pt x="6393" y="112115"/>
                  </a:lnTo>
                  <a:lnTo>
                    <a:pt x="6393" y="15202"/>
                  </a:lnTo>
                  <a:cubicBezTo>
                    <a:pt x="6393" y="10341"/>
                    <a:pt x="10340" y="6394"/>
                    <a:pt x="15201" y="6394"/>
                  </a:cubicBezTo>
                  <a:lnTo>
                    <a:pt x="42569" y="6394"/>
                  </a:lnTo>
                  <a:cubicBezTo>
                    <a:pt x="44330" y="6394"/>
                    <a:pt x="45766" y="4959"/>
                    <a:pt x="45766" y="3197"/>
                  </a:cubicBezTo>
                  <a:cubicBezTo>
                    <a:pt x="45766" y="1436"/>
                    <a:pt x="44330" y="1"/>
                    <a:pt x="42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" name="Google Shape;432;p51"/>
          <p:cNvGrpSpPr/>
          <p:nvPr/>
        </p:nvGrpSpPr>
        <p:grpSpPr>
          <a:xfrm>
            <a:off x="2253263" y="1500972"/>
            <a:ext cx="601855" cy="528830"/>
            <a:chOff x="1185725" y="550450"/>
            <a:chExt cx="5228975" cy="4594525"/>
          </a:xfrm>
        </p:grpSpPr>
        <p:sp>
          <p:nvSpPr>
            <p:cNvPr id="433" name="Google Shape;433;p51"/>
            <p:cNvSpPr/>
            <p:nvPr/>
          </p:nvSpPr>
          <p:spPr>
            <a:xfrm>
              <a:off x="5152300" y="551275"/>
              <a:ext cx="213675" cy="159850"/>
            </a:xfrm>
            <a:custGeom>
              <a:avLst/>
              <a:gdLst/>
              <a:ahLst/>
              <a:cxnLst/>
              <a:rect l="l" t="t" r="r" b="b"/>
              <a:pathLst>
                <a:path w="8547" h="6394" extrusionOk="0">
                  <a:moveTo>
                    <a:pt x="3197" y="0"/>
                  </a:moveTo>
                  <a:cubicBezTo>
                    <a:pt x="1436" y="0"/>
                    <a:pt x="0" y="1435"/>
                    <a:pt x="0" y="3197"/>
                  </a:cubicBezTo>
                  <a:cubicBezTo>
                    <a:pt x="0" y="4958"/>
                    <a:pt x="1436" y="6394"/>
                    <a:pt x="3197" y="6394"/>
                  </a:cubicBezTo>
                  <a:lnTo>
                    <a:pt x="5350" y="6394"/>
                  </a:lnTo>
                  <a:cubicBezTo>
                    <a:pt x="7111" y="6394"/>
                    <a:pt x="8547" y="4958"/>
                    <a:pt x="8547" y="3197"/>
                  </a:cubicBezTo>
                  <a:cubicBezTo>
                    <a:pt x="8547" y="1435"/>
                    <a:pt x="7111" y="0"/>
                    <a:pt x="5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1"/>
            <p:cNvSpPr/>
            <p:nvPr/>
          </p:nvSpPr>
          <p:spPr>
            <a:xfrm>
              <a:off x="5488275" y="551275"/>
              <a:ext cx="610025" cy="945175"/>
            </a:xfrm>
            <a:custGeom>
              <a:avLst/>
              <a:gdLst/>
              <a:ahLst/>
              <a:cxnLst/>
              <a:rect l="l" t="t" r="r" b="b"/>
              <a:pathLst>
                <a:path w="24401" h="37807" extrusionOk="0">
                  <a:moveTo>
                    <a:pt x="3197" y="0"/>
                  </a:moveTo>
                  <a:cubicBezTo>
                    <a:pt x="1436" y="0"/>
                    <a:pt x="1" y="1435"/>
                    <a:pt x="1" y="3197"/>
                  </a:cubicBezTo>
                  <a:cubicBezTo>
                    <a:pt x="1" y="4958"/>
                    <a:pt x="1436" y="6394"/>
                    <a:pt x="3197" y="6394"/>
                  </a:cubicBezTo>
                  <a:lnTo>
                    <a:pt x="14223" y="6394"/>
                  </a:lnTo>
                  <a:cubicBezTo>
                    <a:pt x="16311" y="6394"/>
                    <a:pt x="18007" y="8090"/>
                    <a:pt x="18007" y="10177"/>
                  </a:cubicBezTo>
                  <a:lnTo>
                    <a:pt x="18007" y="34642"/>
                  </a:lnTo>
                  <a:cubicBezTo>
                    <a:pt x="18007" y="36404"/>
                    <a:pt x="19442" y="37806"/>
                    <a:pt x="21204" y="37806"/>
                  </a:cubicBezTo>
                  <a:cubicBezTo>
                    <a:pt x="22965" y="37806"/>
                    <a:pt x="24400" y="36404"/>
                    <a:pt x="24400" y="34642"/>
                  </a:cubicBezTo>
                  <a:lnTo>
                    <a:pt x="24400" y="10177"/>
                  </a:lnTo>
                  <a:cubicBezTo>
                    <a:pt x="24400" y="4567"/>
                    <a:pt x="19834" y="0"/>
                    <a:pt x="14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1"/>
            <p:cNvSpPr/>
            <p:nvPr/>
          </p:nvSpPr>
          <p:spPr>
            <a:xfrm>
              <a:off x="5152300" y="4198975"/>
              <a:ext cx="946000" cy="946000"/>
            </a:xfrm>
            <a:custGeom>
              <a:avLst/>
              <a:gdLst/>
              <a:ahLst/>
              <a:cxnLst/>
              <a:rect l="l" t="t" r="r" b="b"/>
              <a:pathLst>
                <a:path w="37840" h="37840" extrusionOk="0">
                  <a:moveTo>
                    <a:pt x="34643" y="1"/>
                  </a:moveTo>
                  <a:cubicBezTo>
                    <a:pt x="32881" y="1"/>
                    <a:pt x="31446" y="1436"/>
                    <a:pt x="31446" y="3197"/>
                  </a:cubicBezTo>
                  <a:lnTo>
                    <a:pt x="31446" y="27662"/>
                  </a:lnTo>
                  <a:cubicBezTo>
                    <a:pt x="31446" y="29750"/>
                    <a:pt x="29750" y="31446"/>
                    <a:pt x="27662" y="31446"/>
                  </a:cubicBezTo>
                  <a:lnTo>
                    <a:pt x="3197" y="31446"/>
                  </a:lnTo>
                  <a:cubicBezTo>
                    <a:pt x="1436" y="31446"/>
                    <a:pt x="0" y="32882"/>
                    <a:pt x="0" y="34643"/>
                  </a:cubicBezTo>
                  <a:cubicBezTo>
                    <a:pt x="0" y="36404"/>
                    <a:pt x="1436" y="37840"/>
                    <a:pt x="3197" y="37840"/>
                  </a:cubicBezTo>
                  <a:lnTo>
                    <a:pt x="27662" y="37840"/>
                  </a:lnTo>
                  <a:cubicBezTo>
                    <a:pt x="33273" y="37840"/>
                    <a:pt x="37839" y="33273"/>
                    <a:pt x="37839" y="27662"/>
                  </a:cubicBezTo>
                  <a:lnTo>
                    <a:pt x="37839" y="3197"/>
                  </a:lnTo>
                  <a:cubicBezTo>
                    <a:pt x="37839" y="1436"/>
                    <a:pt x="36404" y="1"/>
                    <a:pt x="34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1"/>
            <p:cNvSpPr/>
            <p:nvPr/>
          </p:nvSpPr>
          <p:spPr>
            <a:xfrm>
              <a:off x="1501325" y="550450"/>
              <a:ext cx="948450" cy="945175"/>
            </a:xfrm>
            <a:custGeom>
              <a:avLst/>
              <a:gdLst/>
              <a:ahLst/>
              <a:cxnLst/>
              <a:rect l="l" t="t" r="r" b="b"/>
              <a:pathLst>
                <a:path w="37938" h="37807" extrusionOk="0">
                  <a:moveTo>
                    <a:pt x="10243" y="0"/>
                  </a:moveTo>
                  <a:cubicBezTo>
                    <a:pt x="7535" y="0"/>
                    <a:pt x="4991" y="1044"/>
                    <a:pt x="3066" y="2969"/>
                  </a:cubicBezTo>
                  <a:cubicBezTo>
                    <a:pt x="1142" y="4861"/>
                    <a:pt x="65" y="7438"/>
                    <a:pt x="65" y="10145"/>
                  </a:cubicBezTo>
                  <a:lnTo>
                    <a:pt x="0" y="34610"/>
                  </a:lnTo>
                  <a:cubicBezTo>
                    <a:pt x="0" y="36372"/>
                    <a:pt x="1403" y="37807"/>
                    <a:pt x="3164" y="37807"/>
                  </a:cubicBezTo>
                  <a:lnTo>
                    <a:pt x="3197" y="37807"/>
                  </a:lnTo>
                  <a:cubicBezTo>
                    <a:pt x="4958" y="37807"/>
                    <a:pt x="6361" y="36372"/>
                    <a:pt x="6394" y="34610"/>
                  </a:cubicBezTo>
                  <a:lnTo>
                    <a:pt x="6459" y="10145"/>
                  </a:lnTo>
                  <a:cubicBezTo>
                    <a:pt x="6459" y="9134"/>
                    <a:pt x="6850" y="8188"/>
                    <a:pt x="7568" y="7503"/>
                  </a:cubicBezTo>
                  <a:cubicBezTo>
                    <a:pt x="8286" y="6785"/>
                    <a:pt x="9232" y="6394"/>
                    <a:pt x="10243" y="6394"/>
                  </a:cubicBezTo>
                  <a:lnTo>
                    <a:pt x="34708" y="6459"/>
                  </a:lnTo>
                  <a:cubicBezTo>
                    <a:pt x="36469" y="6459"/>
                    <a:pt x="37904" y="5024"/>
                    <a:pt x="37904" y="3262"/>
                  </a:cubicBezTo>
                  <a:cubicBezTo>
                    <a:pt x="37937" y="1501"/>
                    <a:pt x="36502" y="66"/>
                    <a:pt x="34740" y="66"/>
                  </a:cubicBezTo>
                  <a:lnTo>
                    <a:pt x="102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1"/>
            <p:cNvSpPr/>
            <p:nvPr/>
          </p:nvSpPr>
          <p:spPr>
            <a:xfrm>
              <a:off x="1502125" y="4198975"/>
              <a:ext cx="946000" cy="946000"/>
            </a:xfrm>
            <a:custGeom>
              <a:avLst/>
              <a:gdLst/>
              <a:ahLst/>
              <a:cxnLst/>
              <a:rect l="l" t="t" r="r" b="b"/>
              <a:pathLst>
                <a:path w="37840" h="37840" extrusionOk="0">
                  <a:moveTo>
                    <a:pt x="3198" y="1"/>
                  </a:moveTo>
                  <a:cubicBezTo>
                    <a:pt x="1436" y="1"/>
                    <a:pt x="1" y="1436"/>
                    <a:pt x="1" y="3197"/>
                  </a:cubicBezTo>
                  <a:lnTo>
                    <a:pt x="1" y="27662"/>
                  </a:lnTo>
                  <a:cubicBezTo>
                    <a:pt x="1" y="33273"/>
                    <a:pt x="4568" y="37840"/>
                    <a:pt x="10178" y="37840"/>
                  </a:cubicBezTo>
                  <a:lnTo>
                    <a:pt x="34643" y="37840"/>
                  </a:lnTo>
                  <a:cubicBezTo>
                    <a:pt x="36405" y="37840"/>
                    <a:pt x="37840" y="36404"/>
                    <a:pt x="37840" y="34643"/>
                  </a:cubicBezTo>
                  <a:cubicBezTo>
                    <a:pt x="37840" y="32882"/>
                    <a:pt x="36405" y="31446"/>
                    <a:pt x="34643" y="31446"/>
                  </a:cubicBezTo>
                  <a:lnTo>
                    <a:pt x="10178" y="31446"/>
                  </a:lnTo>
                  <a:cubicBezTo>
                    <a:pt x="8091" y="31446"/>
                    <a:pt x="6394" y="29750"/>
                    <a:pt x="6394" y="27662"/>
                  </a:cubicBezTo>
                  <a:lnTo>
                    <a:pt x="6394" y="3197"/>
                  </a:lnTo>
                  <a:cubicBezTo>
                    <a:pt x="6394" y="1436"/>
                    <a:pt x="4959" y="1"/>
                    <a:pt x="3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1"/>
            <p:cNvSpPr/>
            <p:nvPr/>
          </p:nvSpPr>
          <p:spPr>
            <a:xfrm>
              <a:off x="2378800" y="1445750"/>
              <a:ext cx="4035900" cy="3075375"/>
            </a:xfrm>
            <a:custGeom>
              <a:avLst/>
              <a:gdLst/>
              <a:ahLst/>
              <a:cxnLst/>
              <a:rect l="l" t="t" r="r" b="b"/>
              <a:pathLst>
                <a:path w="161436" h="123015" extrusionOk="0">
                  <a:moveTo>
                    <a:pt x="96199" y="0"/>
                  </a:moveTo>
                  <a:cubicBezTo>
                    <a:pt x="95023" y="0"/>
                    <a:pt x="93884" y="659"/>
                    <a:pt x="93326" y="1799"/>
                  </a:cubicBezTo>
                  <a:cubicBezTo>
                    <a:pt x="92543" y="3397"/>
                    <a:pt x="93228" y="5289"/>
                    <a:pt x="94793" y="6072"/>
                  </a:cubicBezTo>
                  <a:cubicBezTo>
                    <a:pt x="125260" y="20980"/>
                    <a:pt x="148290" y="49098"/>
                    <a:pt x="154031" y="56568"/>
                  </a:cubicBezTo>
                  <a:cubicBezTo>
                    <a:pt x="150508" y="61200"/>
                    <a:pt x="140429" y="73595"/>
                    <a:pt x="126206" y="85893"/>
                  </a:cubicBezTo>
                  <a:cubicBezTo>
                    <a:pt x="109929" y="99920"/>
                    <a:pt x="84681" y="116621"/>
                    <a:pt x="56857" y="116621"/>
                  </a:cubicBezTo>
                  <a:cubicBezTo>
                    <a:pt x="40318" y="116621"/>
                    <a:pt x="22997" y="110815"/>
                    <a:pt x="5382" y="99365"/>
                  </a:cubicBezTo>
                  <a:cubicBezTo>
                    <a:pt x="4841" y="99024"/>
                    <a:pt x="4240" y="98861"/>
                    <a:pt x="3648" y="98861"/>
                  </a:cubicBezTo>
                  <a:cubicBezTo>
                    <a:pt x="2597" y="98861"/>
                    <a:pt x="1572" y="99373"/>
                    <a:pt x="946" y="100311"/>
                  </a:cubicBezTo>
                  <a:cubicBezTo>
                    <a:pt x="0" y="101779"/>
                    <a:pt x="392" y="103769"/>
                    <a:pt x="1892" y="104747"/>
                  </a:cubicBezTo>
                  <a:cubicBezTo>
                    <a:pt x="20551" y="116882"/>
                    <a:pt x="39046" y="123015"/>
                    <a:pt x="56857" y="123015"/>
                  </a:cubicBezTo>
                  <a:cubicBezTo>
                    <a:pt x="70100" y="123015"/>
                    <a:pt x="83833" y="119589"/>
                    <a:pt x="97664" y="112805"/>
                  </a:cubicBezTo>
                  <a:cubicBezTo>
                    <a:pt x="108592" y="107455"/>
                    <a:pt x="119650" y="99985"/>
                    <a:pt x="130480" y="90623"/>
                  </a:cubicBezTo>
                  <a:cubicBezTo>
                    <a:pt x="148877" y="74737"/>
                    <a:pt x="160164" y="59112"/>
                    <a:pt x="160653" y="58427"/>
                  </a:cubicBezTo>
                  <a:cubicBezTo>
                    <a:pt x="161436" y="57318"/>
                    <a:pt x="161436" y="55818"/>
                    <a:pt x="160653" y="54709"/>
                  </a:cubicBezTo>
                  <a:cubicBezTo>
                    <a:pt x="159577" y="53241"/>
                    <a:pt x="134264" y="18272"/>
                    <a:pt x="97599" y="331"/>
                  </a:cubicBezTo>
                  <a:cubicBezTo>
                    <a:pt x="97150" y="107"/>
                    <a:pt x="96671" y="0"/>
                    <a:pt x="96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1"/>
            <p:cNvSpPr/>
            <p:nvPr/>
          </p:nvSpPr>
          <p:spPr>
            <a:xfrm>
              <a:off x="1185725" y="1199575"/>
              <a:ext cx="3350900" cy="2669975"/>
            </a:xfrm>
            <a:custGeom>
              <a:avLst/>
              <a:gdLst/>
              <a:ahLst/>
              <a:cxnLst/>
              <a:rect l="l" t="t" r="r" b="b"/>
              <a:pathLst>
                <a:path w="134036" h="106799" extrusionOk="0">
                  <a:moveTo>
                    <a:pt x="104580" y="1"/>
                  </a:moveTo>
                  <a:cubicBezTo>
                    <a:pt x="91336" y="1"/>
                    <a:pt x="77603" y="3426"/>
                    <a:pt x="63772" y="10211"/>
                  </a:cubicBezTo>
                  <a:cubicBezTo>
                    <a:pt x="52844" y="15560"/>
                    <a:pt x="41786" y="23030"/>
                    <a:pt x="30957" y="32392"/>
                  </a:cubicBezTo>
                  <a:cubicBezTo>
                    <a:pt x="12559" y="48278"/>
                    <a:pt x="1272" y="63903"/>
                    <a:pt x="783" y="64556"/>
                  </a:cubicBezTo>
                  <a:cubicBezTo>
                    <a:pt x="0" y="65697"/>
                    <a:pt x="0" y="67165"/>
                    <a:pt x="783" y="68274"/>
                  </a:cubicBezTo>
                  <a:cubicBezTo>
                    <a:pt x="1370" y="69122"/>
                    <a:pt x="15462" y="88629"/>
                    <a:pt x="37807" y="106146"/>
                  </a:cubicBezTo>
                  <a:cubicBezTo>
                    <a:pt x="38394" y="106603"/>
                    <a:pt x="39112" y="106798"/>
                    <a:pt x="39797" y="106798"/>
                  </a:cubicBezTo>
                  <a:cubicBezTo>
                    <a:pt x="40742" y="106798"/>
                    <a:pt x="41688" y="106407"/>
                    <a:pt x="42308" y="105591"/>
                  </a:cubicBezTo>
                  <a:cubicBezTo>
                    <a:pt x="43385" y="104189"/>
                    <a:pt x="43156" y="102199"/>
                    <a:pt x="41754" y="101090"/>
                  </a:cubicBezTo>
                  <a:cubicBezTo>
                    <a:pt x="24074" y="87226"/>
                    <a:pt x="11450" y="71699"/>
                    <a:pt x="7372" y="66415"/>
                  </a:cubicBezTo>
                  <a:cubicBezTo>
                    <a:pt x="10928" y="61848"/>
                    <a:pt x="20910" y="49485"/>
                    <a:pt x="35132" y="37220"/>
                  </a:cubicBezTo>
                  <a:cubicBezTo>
                    <a:pt x="51409" y="23161"/>
                    <a:pt x="76690" y="6394"/>
                    <a:pt x="104580" y="6394"/>
                  </a:cubicBezTo>
                  <a:cubicBezTo>
                    <a:pt x="112669" y="6394"/>
                    <a:pt x="121020" y="7797"/>
                    <a:pt x="129469" y="10570"/>
                  </a:cubicBezTo>
                  <a:cubicBezTo>
                    <a:pt x="129798" y="10679"/>
                    <a:pt x="130133" y="10732"/>
                    <a:pt x="130462" y="10732"/>
                  </a:cubicBezTo>
                  <a:cubicBezTo>
                    <a:pt x="131794" y="10732"/>
                    <a:pt x="133036" y="9875"/>
                    <a:pt x="133481" y="8515"/>
                  </a:cubicBezTo>
                  <a:cubicBezTo>
                    <a:pt x="134035" y="6851"/>
                    <a:pt x="133122" y="5057"/>
                    <a:pt x="131458" y="4502"/>
                  </a:cubicBezTo>
                  <a:cubicBezTo>
                    <a:pt x="122390" y="1501"/>
                    <a:pt x="113354" y="1"/>
                    <a:pt x="104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51"/>
            <p:cNvSpPr/>
            <p:nvPr/>
          </p:nvSpPr>
          <p:spPr>
            <a:xfrm>
              <a:off x="2440775" y="1501325"/>
              <a:ext cx="2718875" cy="2718075"/>
            </a:xfrm>
            <a:custGeom>
              <a:avLst/>
              <a:gdLst/>
              <a:ahLst/>
              <a:cxnLst/>
              <a:rect l="l" t="t" r="r" b="b"/>
              <a:pathLst>
                <a:path w="108755" h="108723" extrusionOk="0">
                  <a:moveTo>
                    <a:pt x="54378" y="0"/>
                  </a:moveTo>
                  <a:cubicBezTo>
                    <a:pt x="24400" y="0"/>
                    <a:pt x="0" y="24367"/>
                    <a:pt x="0" y="54345"/>
                  </a:cubicBezTo>
                  <a:cubicBezTo>
                    <a:pt x="0" y="84323"/>
                    <a:pt x="24400" y="108722"/>
                    <a:pt x="54378" y="108722"/>
                  </a:cubicBezTo>
                  <a:cubicBezTo>
                    <a:pt x="84355" y="108722"/>
                    <a:pt x="108755" y="84323"/>
                    <a:pt x="108755" y="54345"/>
                  </a:cubicBezTo>
                  <a:cubicBezTo>
                    <a:pt x="108755" y="43678"/>
                    <a:pt x="105656" y="33370"/>
                    <a:pt x="99817" y="24498"/>
                  </a:cubicBezTo>
                  <a:cubicBezTo>
                    <a:pt x="99197" y="23567"/>
                    <a:pt x="98170" y="23056"/>
                    <a:pt x="97127" y="23056"/>
                  </a:cubicBezTo>
                  <a:cubicBezTo>
                    <a:pt x="96525" y="23056"/>
                    <a:pt x="95918" y="23226"/>
                    <a:pt x="95381" y="23584"/>
                  </a:cubicBezTo>
                  <a:cubicBezTo>
                    <a:pt x="93913" y="24563"/>
                    <a:pt x="93489" y="26520"/>
                    <a:pt x="94467" y="28021"/>
                  </a:cubicBezTo>
                  <a:cubicBezTo>
                    <a:pt x="99621" y="35817"/>
                    <a:pt x="102361" y="44950"/>
                    <a:pt x="102361" y="54345"/>
                  </a:cubicBezTo>
                  <a:cubicBezTo>
                    <a:pt x="102361" y="80800"/>
                    <a:pt x="80832" y="102329"/>
                    <a:pt x="54378" y="102329"/>
                  </a:cubicBezTo>
                  <a:cubicBezTo>
                    <a:pt x="27923" y="102329"/>
                    <a:pt x="6394" y="80800"/>
                    <a:pt x="6394" y="54345"/>
                  </a:cubicBezTo>
                  <a:cubicBezTo>
                    <a:pt x="6394" y="27923"/>
                    <a:pt x="27923" y="6394"/>
                    <a:pt x="54378" y="6394"/>
                  </a:cubicBezTo>
                  <a:cubicBezTo>
                    <a:pt x="66480" y="6394"/>
                    <a:pt x="78027" y="10895"/>
                    <a:pt x="86900" y="19083"/>
                  </a:cubicBezTo>
                  <a:cubicBezTo>
                    <a:pt x="87522" y="19659"/>
                    <a:pt x="88309" y="19945"/>
                    <a:pt x="89092" y="19945"/>
                  </a:cubicBezTo>
                  <a:cubicBezTo>
                    <a:pt x="89949" y="19945"/>
                    <a:pt x="90803" y="19602"/>
                    <a:pt x="91434" y="18920"/>
                  </a:cubicBezTo>
                  <a:cubicBezTo>
                    <a:pt x="92608" y="17615"/>
                    <a:pt x="92543" y="15592"/>
                    <a:pt x="91238" y="14418"/>
                  </a:cubicBezTo>
                  <a:cubicBezTo>
                    <a:pt x="81191" y="5121"/>
                    <a:pt x="68078" y="0"/>
                    <a:pt x="54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" name="Google Shape;441;p51"/>
            <p:cNvSpPr/>
            <p:nvPr/>
          </p:nvSpPr>
          <p:spPr>
            <a:xfrm>
              <a:off x="3073600" y="2133325"/>
              <a:ext cx="1453225" cy="1454050"/>
            </a:xfrm>
            <a:custGeom>
              <a:avLst/>
              <a:gdLst/>
              <a:ahLst/>
              <a:cxnLst/>
              <a:rect l="l" t="t" r="r" b="b"/>
              <a:pathLst>
                <a:path w="58129" h="58162" extrusionOk="0">
                  <a:moveTo>
                    <a:pt x="29065" y="6394"/>
                  </a:moveTo>
                  <a:cubicBezTo>
                    <a:pt x="41558" y="6394"/>
                    <a:pt x="51735" y="16571"/>
                    <a:pt x="51735" y="29065"/>
                  </a:cubicBezTo>
                  <a:cubicBezTo>
                    <a:pt x="51735" y="41591"/>
                    <a:pt x="41558" y="51768"/>
                    <a:pt x="29065" y="51768"/>
                  </a:cubicBezTo>
                  <a:cubicBezTo>
                    <a:pt x="16571" y="51768"/>
                    <a:pt x="6394" y="41591"/>
                    <a:pt x="6394" y="29065"/>
                  </a:cubicBezTo>
                  <a:cubicBezTo>
                    <a:pt x="6394" y="16571"/>
                    <a:pt x="16571" y="6394"/>
                    <a:pt x="29065" y="6394"/>
                  </a:cubicBezTo>
                  <a:close/>
                  <a:moveTo>
                    <a:pt x="29065" y="1"/>
                  </a:moveTo>
                  <a:cubicBezTo>
                    <a:pt x="13048" y="1"/>
                    <a:pt x="0" y="13049"/>
                    <a:pt x="0" y="29065"/>
                  </a:cubicBezTo>
                  <a:cubicBezTo>
                    <a:pt x="0" y="45114"/>
                    <a:pt x="13048" y="58162"/>
                    <a:pt x="29065" y="58162"/>
                  </a:cubicBezTo>
                  <a:cubicBezTo>
                    <a:pt x="45081" y="58162"/>
                    <a:pt x="58129" y="45114"/>
                    <a:pt x="58129" y="29065"/>
                  </a:cubicBezTo>
                  <a:cubicBezTo>
                    <a:pt x="58129" y="13049"/>
                    <a:pt x="45081" y="1"/>
                    <a:pt x="29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51"/>
            <p:cNvSpPr/>
            <p:nvPr/>
          </p:nvSpPr>
          <p:spPr>
            <a:xfrm>
              <a:off x="3786350" y="550450"/>
              <a:ext cx="159850" cy="307475"/>
            </a:xfrm>
            <a:custGeom>
              <a:avLst/>
              <a:gdLst/>
              <a:ahLst/>
              <a:cxnLst/>
              <a:rect l="l" t="t" r="r" b="b"/>
              <a:pathLst>
                <a:path w="6394" h="12299" extrusionOk="0">
                  <a:moveTo>
                    <a:pt x="3197" y="0"/>
                  </a:moveTo>
                  <a:cubicBezTo>
                    <a:pt x="1435" y="0"/>
                    <a:pt x="0" y="1436"/>
                    <a:pt x="0" y="3197"/>
                  </a:cubicBezTo>
                  <a:lnTo>
                    <a:pt x="0" y="9101"/>
                  </a:lnTo>
                  <a:cubicBezTo>
                    <a:pt x="0" y="10863"/>
                    <a:pt x="1435" y="12298"/>
                    <a:pt x="3197" y="12298"/>
                  </a:cubicBezTo>
                  <a:cubicBezTo>
                    <a:pt x="4991" y="12298"/>
                    <a:pt x="6394" y="10863"/>
                    <a:pt x="6394" y="9101"/>
                  </a:cubicBezTo>
                  <a:lnTo>
                    <a:pt x="6394" y="3197"/>
                  </a:lnTo>
                  <a:cubicBezTo>
                    <a:pt x="6394" y="1436"/>
                    <a:pt x="4958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1"/>
            <p:cNvSpPr/>
            <p:nvPr/>
          </p:nvSpPr>
          <p:spPr>
            <a:xfrm>
              <a:off x="4239750" y="736750"/>
              <a:ext cx="301775" cy="277750"/>
            </a:xfrm>
            <a:custGeom>
              <a:avLst/>
              <a:gdLst/>
              <a:ahLst/>
              <a:cxnLst/>
              <a:rect l="l" t="t" r="r" b="b"/>
              <a:pathLst>
                <a:path w="12071" h="11110" extrusionOk="0">
                  <a:moveTo>
                    <a:pt x="8540" y="1"/>
                  </a:moveTo>
                  <a:cubicBezTo>
                    <a:pt x="7757" y="1"/>
                    <a:pt x="6973" y="287"/>
                    <a:pt x="6362" y="866"/>
                  </a:cubicBezTo>
                  <a:lnTo>
                    <a:pt x="1338" y="5596"/>
                  </a:lnTo>
                  <a:cubicBezTo>
                    <a:pt x="66" y="6803"/>
                    <a:pt x="1" y="8826"/>
                    <a:pt x="1208" y="10131"/>
                  </a:cubicBezTo>
                  <a:cubicBezTo>
                    <a:pt x="1827" y="10783"/>
                    <a:pt x="2676" y="11109"/>
                    <a:pt x="3524" y="11109"/>
                  </a:cubicBezTo>
                  <a:cubicBezTo>
                    <a:pt x="4339" y="11109"/>
                    <a:pt x="5122" y="10816"/>
                    <a:pt x="5742" y="10261"/>
                  </a:cubicBezTo>
                  <a:lnTo>
                    <a:pt x="10733" y="5498"/>
                  </a:lnTo>
                  <a:cubicBezTo>
                    <a:pt x="12037" y="4292"/>
                    <a:pt x="12070" y="2269"/>
                    <a:pt x="10863" y="997"/>
                  </a:cubicBezTo>
                  <a:cubicBezTo>
                    <a:pt x="10236" y="336"/>
                    <a:pt x="9388" y="1"/>
                    <a:pt x="8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51"/>
            <p:cNvSpPr/>
            <p:nvPr/>
          </p:nvSpPr>
          <p:spPr>
            <a:xfrm>
              <a:off x="3202450" y="738475"/>
              <a:ext cx="302575" cy="277650"/>
            </a:xfrm>
            <a:custGeom>
              <a:avLst/>
              <a:gdLst/>
              <a:ahLst/>
              <a:cxnLst/>
              <a:rect l="l" t="t" r="r" b="b"/>
              <a:pathLst>
                <a:path w="12103" h="11106" extrusionOk="0">
                  <a:moveTo>
                    <a:pt x="3545" y="0"/>
                  </a:moveTo>
                  <a:cubicBezTo>
                    <a:pt x="2692" y="0"/>
                    <a:pt x="1838" y="344"/>
                    <a:pt x="1207" y="1026"/>
                  </a:cubicBezTo>
                  <a:cubicBezTo>
                    <a:pt x="0" y="2298"/>
                    <a:pt x="65" y="4320"/>
                    <a:pt x="1338" y="5527"/>
                  </a:cubicBezTo>
                  <a:lnTo>
                    <a:pt x="6361" y="10257"/>
                  </a:lnTo>
                  <a:cubicBezTo>
                    <a:pt x="6981" y="10844"/>
                    <a:pt x="7764" y="11105"/>
                    <a:pt x="8547" y="11105"/>
                  </a:cubicBezTo>
                  <a:cubicBezTo>
                    <a:pt x="9395" y="11105"/>
                    <a:pt x="10243" y="10779"/>
                    <a:pt x="10895" y="10094"/>
                  </a:cubicBezTo>
                  <a:cubicBezTo>
                    <a:pt x="12102" y="8822"/>
                    <a:pt x="12037" y="6800"/>
                    <a:pt x="10732" y="5593"/>
                  </a:cubicBezTo>
                  <a:lnTo>
                    <a:pt x="5709" y="863"/>
                  </a:lnTo>
                  <a:cubicBezTo>
                    <a:pt x="5102" y="287"/>
                    <a:pt x="4323" y="0"/>
                    <a:pt x="3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51"/>
            <p:cNvSpPr/>
            <p:nvPr/>
          </p:nvSpPr>
          <p:spPr>
            <a:xfrm>
              <a:off x="3786350" y="4837525"/>
              <a:ext cx="159850" cy="307450"/>
            </a:xfrm>
            <a:custGeom>
              <a:avLst/>
              <a:gdLst/>
              <a:ahLst/>
              <a:cxnLst/>
              <a:rect l="l" t="t" r="r" b="b"/>
              <a:pathLst>
                <a:path w="6394" h="12298" extrusionOk="0">
                  <a:moveTo>
                    <a:pt x="3197" y="0"/>
                  </a:moveTo>
                  <a:cubicBezTo>
                    <a:pt x="1435" y="0"/>
                    <a:pt x="0" y="1435"/>
                    <a:pt x="0" y="3197"/>
                  </a:cubicBezTo>
                  <a:lnTo>
                    <a:pt x="0" y="9101"/>
                  </a:lnTo>
                  <a:cubicBezTo>
                    <a:pt x="0" y="10862"/>
                    <a:pt x="1435" y="12298"/>
                    <a:pt x="3197" y="12298"/>
                  </a:cubicBezTo>
                  <a:cubicBezTo>
                    <a:pt x="4958" y="12298"/>
                    <a:pt x="6394" y="10862"/>
                    <a:pt x="6394" y="9101"/>
                  </a:cubicBezTo>
                  <a:lnTo>
                    <a:pt x="6394" y="3197"/>
                  </a:lnTo>
                  <a:cubicBezTo>
                    <a:pt x="6394" y="1435"/>
                    <a:pt x="4991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51"/>
            <p:cNvSpPr/>
            <p:nvPr/>
          </p:nvSpPr>
          <p:spPr>
            <a:xfrm>
              <a:off x="4239750" y="4681025"/>
              <a:ext cx="301775" cy="278025"/>
            </a:xfrm>
            <a:custGeom>
              <a:avLst/>
              <a:gdLst/>
              <a:ahLst/>
              <a:cxnLst/>
              <a:rect l="l" t="t" r="r" b="b"/>
              <a:pathLst>
                <a:path w="12071" h="11121" extrusionOk="0">
                  <a:moveTo>
                    <a:pt x="3518" y="0"/>
                  </a:moveTo>
                  <a:cubicBezTo>
                    <a:pt x="2671" y="0"/>
                    <a:pt x="1831" y="335"/>
                    <a:pt x="1208" y="1008"/>
                  </a:cubicBezTo>
                  <a:cubicBezTo>
                    <a:pt x="1" y="2280"/>
                    <a:pt x="66" y="4303"/>
                    <a:pt x="1338" y="5510"/>
                  </a:cubicBezTo>
                  <a:lnTo>
                    <a:pt x="6362" y="10240"/>
                  </a:lnTo>
                  <a:cubicBezTo>
                    <a:pt x="6981" y="10827"/>
                    <a:pt x="7764" y="11120"/>
                    <a:pt x="8547" y="11120"/>
                  </a:cubicBezTo>
                  <a:cubicBezTo>
                    <a:pt x="9395" y="11120"/>
                    <a:pt x="10243" y="10794"/>
                    <a:pt x="10863" y="10109"/>
                  </a:cubicBezTo>
                  <a:cubicBezTo>
                    <a:pt x="12070" y="8837"/>
                    <a:pt x="12037" y="6815"/>
                    <a:pt x="10733" y="5608"/>
                  </a:cubicBezTo>
                  <a:lnTo>
                    <a:pt x="5742" y="878"/>
                  </a:lnTo>
                  <a:cubicBezTo>
                    <a:pt x="5111" y="294"/>
                    <a:pt x="4311" y="0"/>
                    <a:pt x="3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51"/>
            <p:cNvSpPr/>
            <p:nvPr/>
          </p:nvSpPr>
          <p:spPr>
            <a:xfrm>
              <a:off x="3202450" y="4679675"/>
              <a:ext cx="302575" cy="277750"/>
            </a:xfrm>
            <a:custGeom>
              <a:avLst/>
              <a:gdLst/>
              <a:ahLst/>
              <a:cxnLst/>
              <a:rect l="l" t="t" r="r" b="b"/>
              <a:pathLst>
                <a:path w="12103" h="11110" extrusionOk="0">
                  <a:moveTo>
                    <a:pt x="8568" y="1"/>
                  </a:moveTo>
                  <a:cubicBezTo>
                    <a:pt x="7780" y="1"/>
                    <a:pt x="6988" y="287"/>
                    <a:pt x="6361" y="867"/>
                  </a:cubicBezTo>
                  <a:lnTo>
                    <a:pt x="1338" y="5564"/>
                  </a:lnTo>
                  <a:cubicBezTo>
                    <a:pt x="65" y="6771"/>
                    <a:pt x="0" y="8793"/>
                    <a:pt x="1207" y="10098"/>
                  </a:cubicBezTo>
                  <a:cubicBezTo>
                    <a:pt x="1827" y="10750"/>
                    <a:pt x="2675" y="11109"/>
                    <a:pt x="3523" y="11109"/>
                  </a:cubicBezTo>
                  <a:cubicBezTo>
                    <a:pt x="4306" y="11109"/>
                    <a:pt x="5089" y="10816"/>
                    <a:pt x="5709" y="10228"/>
                  </a:cubicBezTo>
                  <a:lnTo>
                    <a:pt x="10732" y="5499"/>
                  </a:lnTo>
                  <a:cubicBezTo>
                    <a:pt x="12037" y="4292"/>
                    <a:pt x="12102" y="2269"/>
                    <a:pt x="10895" y="997"/>
                  </a:cubicBezTo>
                  <a:cubicBezTo>
                    <a:pt x="10268" y="336"/>
                    <a:pt x="9420" y="1"/>
                    <a:pt x="8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7EB9A3A8-EF93-502F-DB97-5D8079BC5D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76200" y="2851101"/>
            <a:ext cx="2893127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 prompts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limited benefits at shallow depths.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the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depth of reasoning increases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models' performance collapses, revealing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depth-driven brittleness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Collapse depth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critical metric for assessing the robustness of reasoning in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3" name="Google Shape;4783;p73"/>
          <p:cNvSpPr txBox="1">
            <a:spLocks noGrp="1"/>
          </p:cNvSpPr>
          <p:nvPr>
            <p:ph type="title"/>
          </p:nvPr>
        </p:nvSpPr>
        <p:spPr>
          <a:xfrm>
            <a:off x="948325" y="783712"/>
            <a:ext cx="48633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Future Work</a:t>
            </a:r>
            <a:endParaRPr dirty="0"/>
          </a:p>
        </p:txBody>
      </p:sp>
      <p:sp>
        <p:nvSpPr>
          <p:cNvPr id="4784" name="Google Shape;4784;p73"/>
          <p:cNvSpPr txBox="1">
            <a:spLocks noGrp="1"/>
          </p:cNvSpPr>
          <p:nvPr>
            <p:ph type="subTitle" idx="1"/>
          </p:nvPr>
        </p:nvSpPr>
        <p:spPr>
          <a:xfrm>
            <a:off x="948325" y="1694121"/>
            <a:ext cx="7139508" cy="28211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ClrTx/>
              <a:buNone/>
            </a:pPr>
            <a:r>
              <a:rPr lang="en-US" b="1" dirty="0"/>
              <a:t>Next Steps: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b="1" dirty="0"/>
              <a:t>Extend depth-graded evaluations</a:t>
            </a:r>
            <a:r>
              <a:rPr lang="en-US" dirty="0"/>
              <a:t> to broader reasoning benchmarks beyond </a:t>
            </a:r>
            <a:r>
              <a:rPr lang="en-US" b="1" dirty="0"/>
              <a:t>CLUTRR</a:t>
            </a:r>
            <a:r>
              <a:rPr lang="en-US" dirty="0"/>
              <a:t> and </a:t>
            </a:r>
            <a:r>
              <a:rPr lang="en-US" b="1" dirty="0" err="1"/>
              <a:t>ProofWriter</a:t>
            </a:r>
            <a:r>
              <a:rPr lang="en-US" dirty="0"/>
              <a:t>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Investigate </a:t>
            </a:r>
            <a:r>
              <a:rPr lang="en-US" b="1" dirty="0"/>
              <a:t>training strategies</a:t>
            </a:r>
            <a:r>
              <a:rPr lang="en-US" dirty="0"/>
              <a:t> or </a:t>
            </a:r>
            <a:r>
              <a:rPr lang="en-US" b="1" dirty="0"/>
              <a:t>architectural methods</a:t>
            </a:r>
            <a:r>
              <a:rPr lang="en-US" dirty="0"/>
              <a:t> that could improve </a:t>
            </a:r>
            <a:r>
              <a:rPr lang="en-US" b="1" dirty="0"/>
              <a:t>reasoning stability</a:t>
            </a:r>
            <a:r>
              <a:rPr lang="en-US" dirty="0"/>
              <a:t> and </a:t>
            </a:r>
            <a:r>
              <a:rPr lang="en-US" b="1" dirty="0"/>
              <a:t>mitigate collapse</a:t>
            </a:r>
            <a:r>
              <a:rPr lang="en-US" dirty="0"/>
              <a:t>.</a:t>
            </a:r>
          </a:p>
          <a:p>
            <a:pPr marL="139700" indent="0">
              <a:buClrTx/>
              <a:buNone/>
            </a:pPr>
            <a:r>
              <a:rPr lang="en-US" b="1" dirty="0"/>
              <a:t>Exploration Areas: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Assess </a:t>
            </a:r>
            <a:r>
              <a:rPr lang="en-US" b="1" dirty="0"/>
              <a:t>depth-aware learning</a:t>
            </a:r>
            <a:r>
              <a:rPr lang="en-US" dirty="0"/>
              <a:t> techniques to enhance performance on tasks requiring </a:t>
            </a:r>
            <a:r>
              <a:rPr lang="en-US" b="1" dirty="0"/>
              <a:t>compositional and logical reasoning</a:t>
            </a:r>
            <a:r>
              <a:rPr lang="en-US" dirty="0"/>
              <a:t>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Develop frameworks that can handle </a:t>
            </a:r>
            <a:r>
              <a:rPr lang="en-US" b="1" dirty="0"/>
              <a:t>complex multi-step reasoning tasks</a:t>
            </a:r>
            <a:r>
              <a:rPr lang="en-US" dirty="0"/>
              <a:t> while maintaining consistent performance.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2">
          <a:extLst>
            <a:ext uri="{FF2B5EF4-FFF2-40B4-BE49-F238E27FC236}">
              <a16:creationId xmlns:a16="http://schemas.microsoft.com/office/drawing/2014/main" id="{BB963809-4F03-72E3-339A-13101AE11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3" name="Google Shape;4783;p73">
            <a:extLst>
              <a:ext uri="{FF2B5EF4-FFF2-40B4-BE49-F238E27FC236}">
                <a16:creationId xmlns:a16="http://schemas.microsoft.com/office/drawing/2014/main" id="{7745B3EC-B9D6-7C0A-A44F-3A34C5F1B6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 </a:t>
            </a:r>
            <a:endParaRPr dirty="0"/>
          </a:p>
        </p:txBody>
      </p:sp>
      <p:sp>
        <p:nvSpPr>
          <p:cNvPr id="4784" name="Google Shape;4784;p73">
            <a:extLst>
              <a:ext uri="{FF2B5EF4-FFF2-40B4-BE49-F238E27FC236}">
                <a16:creationId xmlns:a16="http://schemas.microsoft.com/office/drawing/2014/main" id="{D29AB257-80F3-0B8B-41E1-027018A824B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48324" y="2112038"/>
            <a:ext cx="6487377" cy="18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Wei et al., 2022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— Chain-of-Thought prompting improves shallow reasoning.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0D0D0D"/>
                </a:solidFill>
                <a:latin typeface="ui-sans-serif"/>
              </a:rPr>
              <a:t>Shojaee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 et al., 2025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— LLMs show illusion of reasoning; collapse as complexity increases.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Sinha et al., 2019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— CLUTRR: depth-graded relational reasoning benchmark.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Tafjord &amp; Clark, 2021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— </a:t>
            </a:r>
            <a:r>
              <a:rPr lang="en-US" dirty="0" err="1">
                <a:solidFill>
                  <a:srgbClr val="0D0D0D"/>
                </a:solidFill>
                <a:latin typeface="ui-sans-serif"/>
              </a:rPr>
              <a:t>ProofWriter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: multi-step logical entailment dataset.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0403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4"/>
          <p:cNvSpPr txBox="1">
            <a:spLocks noGrp="1"/>
          </p:cNvSpPr>
          <p:nvPr>
            <p:ph type="title"/>
          </p:nvPr>
        </p:nvSpPr>
        <p:spPr>
          <a:xfrm>
            <a:off x="2459849" y="624433"/>
            <a:ext cx="4678142" cy="13886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>QUESTIONS?</a:t>
            </a:r>
            <a:endParaRPr dirty="0"/>
          </a:p>
        </p:txBody>
      </p:sp>
      <p:sp>
        <p:nvSpPr>
          <p:cNvPr id="328" name="Google Shape;328;p44"/>
          <p:cNvSpPr txBox="1">
            <a:spLocks noGrp="1"/>
          </p:cNvSpPr>
          <p:nvPr>
            <p:ph type="subTitle" idx="1"/>
          </p:nvPr>
        </p:nvSpPr>
        <p:spPr>
          <a:xfrm>
            <a:off x="1275909" y="1833203"/>
            <a:ext cx="6741040" cy="25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b="1" dirty="0" err="1"/>
              <a:t>Azka</a:t>
            </a:r>
            <a:r>
              <a:rPr lang="en-US" sz="1200" b="1" dirty="0"/>
              <a:t> Ikramullah</a:t>
            </a:r>
          </a:p>
          <a:p>
            <a:pPr algn="l"/>
            <a:r>
              <a:rPr lang="en-US" sz="1200" dirty="0"/>
              <a:t>First Author &amp; Presenter</a:t>
            </a:r>
            <a:br>
              <a:rPr lang="en-US" sz="1200" dirty="0"/>
            </a:br>
            <a:r>
              <a:rPr lang="en-US" sz="1200" dirty="0"/>
              <a:t>IT Convergence Engineering, </a:t>
            </a:r>
            <a:r>
              <a:rPr lang="en-US" sz="1200" dirty="0" err="1"/>
              <a:t>Gachon</a:t>
            </a:r>
            <a:r>
              <a:rPr lang="en-US" sz="1200" dirty="0"/>
              <a:t> University</a:t>
            </a:r>
            <a:br>
              <a:rPr lang="en-US" sz="1200" dirty="0"/>
            </a:br>
            <a:r>
              <a:rPr lang="en-US" sz="1200" dirty="0"/>
              <a:t>📧 </a:t>
            </a:r>
            <a:r>
              <a:rPr lang="en-US" sz="1200" dirty="0">
                <a:hlinkClick r:id="rId3"/>
              </a:rPr>
              <a:t>202540395@gachon.ac.kr</a:t>
            </a:r>
            <a:r>
              <a:rPr lang="en-US" sz="1200" dirty="0"/>
              <a:t> </a:t>
            </a:r>
          </a:p>
          <a:p>
            <a:pPr algn="l"/>
            <a:r>
              <a:rPr lang="en-US" sz="1200" b="1" dirty="0"/>
              <a:t>Scan for links:</a:t>
            </a:r>
            <a:br>
              <a:rPr lang="en-US" sz="1200" dirty="0"/>
            </a:br>
            <a:r>
              <a:rPr lang="en-US" sz="1200" dirty="0"/>
              <a:t>                                                               LinkedIn                                          GitHub QR </a:t>
            </a:r>
          </a:p>
        </p:txBody>
      </p:sp>
      <p:pic>
        <p:nvPicPr>
          <p:cNvPr id="3" name="Picture 2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F757536A-2D59-94A1-EDC5-2E822DC0F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692" y="3196855"/>
            <a:ext cx="1075623" cy="1145419"/>
          </a:xfrm>
          <a:prstGeom prst="rect">
            <a:avLst/>
          </a:prstGeom>
        </p:spPr>
      </p:pic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7F0CC674-8A31-FDA6-AE7F-DF0E6022E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5156" y="3196854"/>
            <a:ext cx="1135207" cy="11454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1554</Words>
  <Application>Microsoft Office PowerPoint</Application>
  <PresentationFormat>On-screen Show (16:9)</PresentationFormat>
  <Paragraphs>188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Golos Text</vt:lpstr>
      <vt:lpstr>Golos Text SemiBold</vt:lpstr>
      <vt:lpstr>Red Hat Display</vt:lpstr>
      <vt:lpstr>Arial</vt:lpstr>
      <vt:lpstr>Commissioner</vt:lpstr>
      <vt:lpstr>ui-sans-serif</vt:lpstr>
      <vt:lpstr>Formulating a Research Problem for University Students by Slidesgo</vt:lpstr>
      <vt:lpstr>SA-86:When Reasoning Collapses: A Depth-Aware Probe into LLM Reasoning(Student Abstract)</vt:lpstr>
      <vt:lpstr>Table of contents</vt:lpstr>
      <vt:lpstr>Table of contents</vt:lpstr>
      <vt:lpstr>Research  problem</vt:lpstr>
      <vt:lpstr>PowerPoint Presentation</vt:lpstr>
      <vt:lpstr>Research questions</vt:lpstr>
      <vt:lpstr>PowerPoint Presentation</vt:lpstr>
      <vt:lpstr>Background</vt:lpstr>
      <vt:lpstr>Framework Overview</vt:lpstr>
      <vt:lpstr>Evaluation Framework</vt:lpstr>
      <vt:lpstr>PowerPoint Presentation</vt:lpstr>
      <vt:lpstr>Experimental Setup</vt:lpstr>
      <vt:lpstr>PowerPoint Presentation</vt:lpstr>
      <vt:lpstr>Key Results </vt:lpstr>
      <vt:lpstr>PowerPoint Presentation</vt:lpstr>
      <vt:lpstr>PowerPoint Presentation</vt:lpstr>
      <vt:lpstr>Visual Results (Graphs) </vt:lpstr>
      <vt:lpstr>PowerPoint Presentation</vt:lpstr>
      <vt:lpstr>PowerPoint Presentation</vt:lpstr>
      <vt:lpstr>Conclusion</vt:lpstr>
      <vt:lpstr>Future Work</vt:lpstr>
      <vt:lpstr>References 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AZKA</cp:lastModifiedBy>
  <cp:revision>1</cp:revision>
  <dcterms:modified xsi:type="dcterms:W3CDTF">2025-12-03T10:37:55Z</dcterms:modified>
</cp:coreProperties>
</file>